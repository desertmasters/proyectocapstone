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Kollektif Bold" charset="1" panose="020B0604020101010102"/>
      <p:regular r:id="rId21"/>
    </p:embeddedFont>
    <p:embeddedFont>
      <p:font typeface="Now Bold" charset="1" panose="00000800000000000000"/>
      <p:regular r:id="rId22"/>
    </p:embeddedFont>
    <p:embeddedFont>
      <p:font typeface="Open Sans" charset="1" panose="020B0606030504020204"/>
      <p:regular r:id="rId23"/>
    </p:embeddedFont>
    <p:embeddedFont>
      <p:font typeface="League Spartan" charset="1" panose="00000800000000000000"/>
      <p:regular r:id="rId24"/>
    </p:embeddedFont>
    <p:embeddedFont>
      <p:font typeface="Raleway Bold" charset="1" panose="00000000000000000000"/>
      <p:regular r:id="rId25"/>
    </p:embeddedFont>
    <p:embeddedFont>
      <p:font typeface="Kollektif" charset="1" panose="020B0604020101010102"/>
      <p:regular r:id="rId26"/>
    </p:embeddedFont>
    <p:embeddedFont>
      <p:font typeface="Raleway" charset="1" panose="00000000000000000000"/>
      <p:regular r:id="rId27"/>
    </p:embeddedFont>
    <p:embeddedFont>
      <p:font typeface="Now" charset="1" panose="00000500000000000000"/>
      <p:regular r:id="rId28"/>
    </p:embeddedFont>
    <p:embeddedFont>
      <p:font typeface="Open Sans Bold" charset="1" panose="020B080603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3871" y="4219426"/>
            <a:ext cx="14200257" cy="17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21"/>
              </a:lnSpc>
            </a:pPr>
            <a:r>
              <a:rPr lang="en-US" b="true" sz="10837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SEGURAPP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5400000">
            <a:off x="13833159" y="4118825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978448" y="48817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2963613" y="596056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08902" y="959122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740984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8892" y="3581697"/>
            <a:ext cx="9390215" cy="75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6"/>
              </a:lnSpc>
            </a:pPr>
            <a:r>
              <a:rPr lang="en-US" b="true" sz="5214" spc="22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Proyecto APT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8963" y="8267332"/>
            <a:ext cx="4545365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Capstone</a:t>
            </a:r>
          </a:p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Sección: 800D</a:t>
            </a:r>
          </a:p>
          <a:p>
            <a:pPr algn="l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Docente: Aldo Martinez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39376" y="7430955"/>
            <a:ext cx="4756684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39376" y="7878097"/>
            <a:ext cx="4756684" cy="18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Ronald Bruno</a:t>
            </a:r>
          </a:p>
          <a:p>
            <a:pPr algn="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Tomás Pérez</a:t>
            </a:r>
          </a:p>
          <a:p>
            <a:pPr algn="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Bastián Trostel</a:t>
            </a:r>
          </a:p>
          <a:p>
            <a:pPr algn="r">
              <a:lnSpc>
                <a:spcPts val="2859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Cristofer Zapata</a:t>
            </a:r>
          </a:p>
          <a:p>
            <a:pPr algn="r" marL="0" indent="0" lvl="0">
              <a:lnSpc>
                <a:spcPts val="285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338200" y="6029252"/>
            <a:ext cx="9611599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Sistema Móvil de Alerta Rápida para Prevención y Respuesta ante incidentes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8193" y="1250950"/>
            <a:ext cx="15264187" cy="7730827"/>
            <a:chOff x="0" y="0"/>
            <a:chExt cx="4177441" cy="2115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77442" cy="2115742"/>
            </a:xfrm>
            <a:custGeom>
              <a:avLst/>
              <a:gdLst/>
              <a:ahLst/>
              <a:cxnLst/>
              <a:rect r="r" b="b" t="t" l="l"/>
              <a:pathLst>
                <a:path h="2115742" w="4177442">
                  <a:moveTo>
                    <a:pt x="0" y="0"/>
                  </a:moveTo>
                  <a:lnTo>
                    <a:pt x="4177442" y="0"/>
                  </a:lnTo>
                  <a:lnTo>
                    <a:pt x="4177442" y="2115742"/>
                  </a:lnTo>
                  <a:lnTo>
                    <a:pt x="0" y="2115742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177441" cy="21633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419199" y="1574802"/>
            <a:ext cx="945493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839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ÍNDICE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26038" y="2860677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6038" y="3681343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41803" y="4506841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26038" y="5416478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4721" y="6295082"/>
            <a:ext cx="12681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24317" y="3104678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Introducción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42531" y="3925344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Contexto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42531" y="4744888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Problemática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7713" y="5660480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Solución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23478" y="6441134"/>
            <a:ext cx="303099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Metodología, Plan y Roles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5400000">
            <a:off x="13833159" y="4118825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10800000">
            <a:off x="11978448" y="48817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-2963613" y="596056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108902" y="959122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41803" y="7317434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42531" y="7493966"/>
            <a:ext cx="3046756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y Herramientas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0286" y="2933228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0286" y="3753894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08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56051" y="4579392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09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0286" y="5489030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10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98969" y="6367633"/>
            <a:ext cx="126819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11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56780" y="3104678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Competencias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29843" y="3925344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Riesgos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70867" y="4792119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Seguridad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107477" y="5695007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negocio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129843" y="6561782"/>
            <a:ext cx="3030991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Mockups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65513" y="7322516"/>
            <a:ext cx="1729066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759"/>
              </a:lnSpc>
            </a:pPr>
            <a:r>
              <a:rPr lang="en-US" b="true" sz="4800" spc="369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12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56780" y="7493966"/>
            <a:ext cx="304675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1E1E1E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443" y="1250950"/>
            <a:ext cx="15422937" cy="7730827"/>
            <a:chOff x="0" y="0"/>
            <a:chExt cx="4220887" cy="2115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0887" cy="2115742"/>
            </a:xfrm>
            <a:custGeom>
              <a:avLst/>
              <a:gdLst/>
              <a:ahLst/>
              <a:cxnLst/>
              <a:rect r="r" b="b" t="t" l="l"/>
              <a:pathLst>
                <a:path h="2115742" w="4220887">
                  <a:moveTo>
                    <a:pt x="0" y="0"/>
                  </a:moveTo>
                  <a:lnTo>
                    <a:pt x="4220887" y="0"/>
                  </a:lnTo>
                  <a:lnTo>
                    <a:pt x="4220887" y="2115742"/>
                  </a:lnTo>
                  <a:lnTo>
                    <a:pt x="0" y="2115742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20887" cy="215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3833159" y="4118825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1978448" y="48817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2963613" y="596056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08902" y="959122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11725" y="7421091"/>
            <a:ext cx="1048632" cy="1361124"/>
          </a:xfrm>
          <a:custGeom>
            <a:avLst/>
            <a:gdLst/>
            <a:ahLst/>
            <a:cxnLst/>
            <a:rect r="r" b="b" t="t" l="l"/>
            <a:pathLst>
              <a:path h="1361124" w="1048632">
                <a:moveTo>
                  <a:pt x="0" y="0"/>
                </a:moveTo>
                <a:lnTo>
                  <a:pt x="1048632" y="0"/>
                </a:lnTo>
                <a:lnTo>
                  <a:pt x="1048632" y="1361125"/>
                </a:lnTo>
                <a:lnTo>
                  <a:pt x="0" y="136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55503" y="1963551"/>
            <a:ext cx="8118754" cy="2042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5"/>
              </a:lnSpc>
            </a:pPr>
            <a:r>
              <a:rPr lang="en-US" sz="7974">
                <a:solidFill>
                  <a:srgbClr val="1E1E1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Introducción al 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42125" y="4454160"/>
            <a:ext cx="11603751" cy="307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spc="63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Nuestro grupo de estudiantes informáticos culminaremos nuestros conocimientos para formar a través de todo el ciclo de vida de un software, gestionar y evaluar correctamente el producto, utilizando las metodologías correctas, así como integraciones satisfactorias para entregar una solución a una problemática que ocurre diariamente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443" y="1250950"/>
            <a:ext cx="15422937" cy="7730827"/>
            <a:chOff x="0" y="0"/>
            <a:chExt cx="4220887" cy="2115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0887" cy="2115742"/>
            </a:xfrm>
            <a:custGeom>
              <a:avLst/>
              <a:gdLst/>
              <a:ahLst/>
              <a:cxnLst/>
              <a:rect r="r" b="b" t="t" l="l"/>
              <a:pathLst>
                <a:path h="2115742" w="4220887">
                  <a:moveTo>
                    <a:pt x="0" y="0"/>
                  </a:moveTo>
                  <a:lnTo>
                    <a:pt x="4220887" y="0"/>
                  </a:lnTo>
                  <a:lnTo>
                    <a:pt x="4220887" y="2115742"/>
                  </a:lnTo>
                  <a:lnTo>
                    <a:pt x="0" y="2115742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20887" cy="215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3833159" y="4118825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1978448" y="48817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2963613" y="596056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08902" y="959122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67452" y="7237890"/>
            <a:ext cx="1048632" cy="1361124"/>
          </a:xfrm>
          <a:custGeom>
            <a:avLst/>
            <a:gdLst/>
            <a:ahLst/>
            <a:cxnLst/>
            <a:rect r="r" b="b" t="t" l="l"/>
            <a:pathLst>
              <a:path h="1361124" w="1048632">
                <a:moveTo>
                  <a:pt x="0" y="0"/>
                </a:moveTo>
                <a:lnTo>
                  <a:pt x="1048632" y="0"/>
                </a:lnTo>
                <a:lnTo>
                  <a:pt x="1048632" y="1361124"/>
                </a:lnTo>
                <a:lnTo>
                  <a:pt x="0" y="13611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06564" y="2037836"/>
            <a:ext cx="6562484" cy="105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15"/>
              </a:lnSpc>
            </a:pPr>
            <a:r>
              <a:rPr lang="en-US" sz="7974">
                <a:solidFill>
                  <a:srgbClr val="1E1E1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Contexto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738841" y="7169092"/>
            <a:ext cx="1381547" cy="1498719"/>
          </a:xfrm>
          <a:custGeom>
            <a:avLst/>
            <a:gdLst/>
            <a:ahLst/>
            <a:cxnLst/>
            <a:rect r="r" b="b" t="t" l="l"/>
            <a:pathLst>
              <a:path h="1498719" w="1381547">
                <a:moveTo>
                  <a:pt x="0" y="0"/>
                </a:moveTo>
                <a:lnTo>
                  <a:pt x="1381547" y="0"/>
                </a:lnTo>
                <a:lnTo>
                  <a:pt x="1381547" y="1498720"/>
                </a:lnTo>
                <a:lnTo>
                  <a:pt x="0" y="14987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259036" y="3751290"/>
            <a:ext cx="11603751" cy="307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2899" spc="63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Actualmente en Chile, las personas enfrentan una constante exposición a delitos que atentan contra la integridad de las personas como robos, asaltos, acoso y agresiones, estas situaciones ocurren en vía pública o recintos privados, siendo una situación que requiere de herramientas para resguardar la seguridad de las personas diariamente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9443" y="1250950"/>
            <a:ext cx="15422937" cy="7730827"/>
            <a:chOff x="0" y="0"/>
            <a:chExt cx="4220887" cy="2115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0887" cy="2115742"/>
            </a:xfrm>
            <a:custGeom>
              <a:avLst/>
              <a:gdLst/>
              <a:ahLst/>
              <a:cxnLst/>
              <a:rect r="r" b="b" t="t" l="l"/>
              <a:pathLst>
                <a:path h="2115742" w="4220887">
                  <a:moveTo>
                    <a:pt x="0" y="0"/>
                  </a:moveTo>
                  <a:lnTo>
                    <a:pt x="4220887" y="0"/>
                  </a:lnTo>
                  <a:lnTo>
                    <a:pt x="4220887" y="2115742"/>
                  </a:lnTo>
                  <a:lnTo>
                    <a:pt x="0" y="2115742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20887" cy="215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3833159" y="4118825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1978448" y="48817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2963613" y="596056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08902" y="959122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71339" y="1636273"/>
            <a:ext cx="1231928" cy="1599043"/>
          </a:xfrm>
          <a:custGeom>
            <a:avLst/>
            <a:gdLst/>
            <a:ahLst/>
            <a:cxnLst/>
            <a:rect r="r" b="b" t="t" l="l"/>
            <a:pathLst>
              <a:path h="1599043" w="1231928">
                <a:moveTo>
                  <a:pt x="0" y="0"/>
                </a:moveTo>
                <a:lnTo>
                  <a:pt x="1231928" y="0"/>
                </a:lnTo>
                <a:lnTo>
                  <a:pt x="1231928" y="1599043"/>
                </a:lnTo>
                <a:lnTo>
                  <a:pt x="0" y="15990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30082" y="2498336"/>
            <a:ext cx="8118754" cy="105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5"/>
              </a:lnSpc>
            </a:pPr>
            <a:r>
              <a:rPr lang="en-US" sz="7974">
                <a:solidFill>
                  <a:srgbClr val="1E1E1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Problemática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689453" y="7054688"/>
            <a:ext cx="1727527" cy="1727527"/>
          </a:xfrm>
          <a:custGeom>
            <a:avLst/>
            <a:gdLst/>
            <a:ahLst/>
            <a:cxnLst/>
            <a:rect r="r" b="b" t="t" l="l"/>
            <a:pathLst>
              <a:path h="1727527" w="1727527">
                <a:moveTo>
                  <a:pt x="0" y="0"/>
                </a:moveTo>
                <a:lnTo>
                  <a:pt x="1727528" y="0"/>
                </a:lnTo>
                <a:lnTo>
                  <a:pt x="1727528" y="1727528"/>
                </a:lnTo>
                <a:lnTo>
                  <a:pt x="0" y="1727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141908" y="4199664"/>
            <a:ext cx="9838006" cy="218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1"/>
              </a:lnSpc>
            </a:pPr>
            <a:r>
              <a:rPr lang="en-US" sz="2458" spc="54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A pesar de la gran frecuencia de incidentes de este ámbito, los mecanismos o herramientas actuales presentan ineficiencias. Se requiere de interacción manual para notificar, los canales de respuesta utilizan alertas estáticas de la ubicación o al llamar toma demasiado tiempo para que acudan al lugar.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751426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Solución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92217" y="8293384"/>
            <a:ext cx="19837040" cy="9461966"/>
          </a:xfrm>
          <a:custGeom>
            <a:avLst/>
            <a:gdLst/>
            <a:ahLst/>
            <a:cxnLst/>
            <a:rect r="r" b="b" t="t" l="l"/>
            <a:pathLst>
              <a:path h="9461966" w="19837040">
                <a:moveTo>
                  <a:pt x="0" y="0"/>
                </a:moveTo>
                <a:lnTo>
                  <a:pt x="19837039" y="0"/>
                </a:lnTo>
                <a:lnTo>
                  <a:pt x="19837039" y="9461966"/>
                </a:lnTo>
                <a:lnTo>
                  <a:pt x="0" y="946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735961" y="3094451"/>
            <a:ext cx="4878150" cy="5769038"/>
            <a:chOff x="0" y="0"/>
            <a:chExt cx="1284780" cy="15194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4780" cy="1519417"/>
            </a:xfrm>
            <a:custGeom>
              <a:avLst/>
              <a:gdLst/>
              <a:ahLst/>
              <a:cxnLst/>
              <a:rect r="r" b="b" t="t" l="l"/>
              <a:pathLst>
                <a:path h="1519417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519417"/>
                  </a:lnTo>
                  <a:lnTo>
                    <a:pt x="0" y="1519417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284780" cy="1519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109411" y="3094451"/>
            <a:ext cx="4878150" cy="5769038"/>
            <a:chOff x="0" y="0"/>
            <a:chExt cx="1284780" cy="15194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4780" cy="1519417"/>
            </a:xfrm>
            <a:custGeom>
              <a:avLst/>
              <a:gdLst/>
              <a:ahLst/>
              <a:cxnLst/>
              <a:rect r="r" b="b" t="t" l="l"/>
              <a:pathLst>
                <a:path h="1519417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519417"/>
                  </a:lnTo>
                  <a:lnTo>
                    <a:pt x="0" y="1519417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284780" cy="1519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0642" y="3094451"/>
            <a:ext cx="4878150" cy="5769038"/>
            <a:chOff x="0" y="0"/>
            <a:chExt cx="1284780" cy="15194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4780" cy="1519417"/>
            </a:xfrm>
            <a:custGeom>
              <a:avLst/>
              <a:gdLst/>
              <a:ahLst/>
              <a:cxnLst/>
              <a:rect r="r" b="b" t="t" l="l"/>
              <a:pathLst>
                <a:path h="1519417" w="1284780">
                  <a:moveTo>
                    <a:pt x="0" y="0"/>
                  </a:moveTo>
                  <a:lnTo>
                    <a:pt x="1284780" y="0"/>
                  </a:lnTo>
                  <a:lnTo>
                    <a:pt x="1284780" y="1519417"/>
                  </a:lnTo>
                  <a:lnTo>
                    <a:pt x="0" y="1519417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284780" cy="1519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57470" y="3692720"/>
            <a:ext cx="446085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90"/>
              </a:lnSpc>
              <a:spcBef>
                <a:spcPct val="0"/>
              </a:spcBef>
            </a:pPr>
            <a:r>
              <a:rPr lang="en-US" sz="3300" spc="4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APP MÓVIL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19396" y="4786914"/>
            <a:ext cx="3726319" cy="175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esto discreto y rápido</a:t>
            </a:r>
          </a:p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Contactos de confianza</a:t>
            </a:r>
          </a:p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Modo acompañante (ver ruta en tiempo real)</a:t>
            </a:r>
          </a:p>
          <a:p>
            <a:pPr algn="l">
              <a:lnSpc>
                <a:spcPts val="283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920100" y="3692720"/>
            <a:ext cx="4460858" cy="53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90"/>
              </a:lnSpc>
              <a:spcBef>
                <a:spcPct val="0"/>
              </a:spcBef>
            </a:pPr>
            <a:r>
              <a:rPr lang="en-US" sz="3300" spc="4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ACCESORIO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82026" y="4786914"/>
            <a:ext cx="3726319" cy="105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</a:t>
            </a: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otón de pánico</a:t>
            </a:r>
          </a:p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Geolocalización</a:t>
            </a:r>
          </a:p>
          <a:p>
            <a:pPr algn="l">
              <a:lnSpc>
                <a:spcPts val="283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77387" y="3421257"/>
            <a:ext cx="4460858" cy="1082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0"/>
              </a:lnSpc>
            </a:pPr>
            <a:r>
              <a:rPr lang="en-US" sz="3300" spc="4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BACK-END</a:t>
            </a:r>
          </a:p>
          <a:p>
            <a:pPr algn="ctr" marL="0" indent="0" lvl="0">
              <a:lnSpc>
                <a:spcPts val="4290"/>
              </a:lnSpc>
              <a:spcBef>
                <a:spcPct val="0"/>
              </a:spcBef>
            </a:pPr>
            <a:r>
              <a:rPr lang="en-US" sz="3300" spc="48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AUTORIDADES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4656" y="4786914"/>
            <a:ext cx="3726319" cy="1405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lertas tiempo real </a:t>
            </a:r>
          </a:p>
          <a:p>
            <a:pPr algn="l" marL="437879" indent="-218940" lvl="1">
              <a:lnSpc>
                <a:spcPts val="2839"/>
              </a:lnSpc>
              <a:buFont typeface="Arial"/>
              <a:buChar char="•"/>
            </a:pPr>
            <a:r>
              <a:rPr lang="en-US" sz="2028" spc="4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Contacto a autoridades cercanas</a:t>
            </a:r>
          </a:p>
          <a:p>
            <a:pPr algn="l">
              <a:lnSpc>
                <a:spcPts val="283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1302136" y="494670"/>
            <a:ext cx="7477630" cy="195786"/>
            <a:chOff x="0" y="0"/>
            <a:chExt cx="13077961" cy="3424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13894603" y="2531462"/>
            <a:ext cx="7477630" cy="195786"/>
            <a:chOff x="0" y="0"/>
            <a:chExt cx="13077961" cy="3424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-10800000">
            <a:off x="-438960" y="9540175"/>
            <a:ext cx="7477630" cy="195786"/>
            <a:chOff x="0" y="0"/>
            <a:chExt cx="13077961" cy="3424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5400000">
            <a:off x="-3031428" y="7503383"/>
            <a:ext cx="7477630" cy="195786"/>
            <a:chOff x="0" y="0"/>
            <a:chExt cx="13077961" cy="3424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77961" cy="342419"/>
            </a:xfrm>
            <a:custGeom>
              <a:avLst/>
              <a:gdLst/>
              <a:ahLst/>
              <a:cxnLst/>
              <a:rect r="r" b="b" t="t" l="l"/>
              <a:pathLst>
                <a:path h="342419" w="13077961">
                  <a:moveTo>
                    <a:pt x="12874761" y="0"/>
                  </a:moveTo>
                  <a:cubicBezTo>
                    <a:pt x="12986986" y="0"/>
                    <a:pt x="13077961" y="76653"/>
                    <a:pt x="13077961" y="171210"/>
                  </a:cubicBezTo>
                  <a:cubicBezTo>
                    <a:pt x="13077961" y="265766"/>
                    <a:pt x="12986986" y="342419"/>
                    <a:pt x="12874761" y="342419"/>
                  </a:cubicBezTo>
                  <a:lnTo>
                    <a:pt x="203200" y="342419"/>
                  </a:lnTo>
                  <a:cubicBezTo>
                    <a:pt x="90976" y="342419"/>
                    <a:pt x="0" y="265766"/>
                    <a:pt x="0" y="171210"/>
                  </a:cubicBezTo>
                  <a:cubicBezTo>
                    <a:pt x="0" y="76653"/>
                    <a:pt x="90976" y="0"/>
                    <a:pt x="203200" y="0"/>
                  </a:cubicBezTo>
                  <a:lnTo>
                    <a:pt x="12874761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9A9E">
                    <a:alpha val="100000"/>
                  </a:srgbClr>
                </a:gs>
                <a:gs pos="100000">
                  <a:srgbClr val="CC6DB3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3077961" cy="342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69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17" y="8293384"/>
            <a:ext cx="19837040" cy="9461966"/>
          </a:xfrm>
          <a:custGeom>
            <a:avLst/>
            <a:gdLst/>
            <a:ahLst/>
            <a:cxnLst/>
            <a:rect r="r" b="b" t="t" l="l"/>
            <a:pathLst>
              <a:path h="9461966" w="19837040">
                <a:moveTo>
                  <a:pt x="0" y="0"/>
                </a:moveTo>
                <a:lnTo>
                  <a:pt x="19837039" y="0"/>
                </a:lnTo>
                <a:lnTo>
                  <a:pt x="19837039" y="9461966"/>
                </a:lnTo>
                <a:lnTo>
                  <a:pt x="0" y="946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3216" y="2722986"/>
            <a:ext cx="14647497" cy="346214"/>
          </a:xfrm>
          <a:custGeom>
            <a:avLst/>
            <a:gdLst/>
            <a:ahLst/>
            <a:cxnLst/>
            <a:rect r="r" b="b" t="t" l="l"/>
            <a:pathLst>
              <a:path h="346214" w="14647497">
                <a:moveTo>
                  <a:pt x="0" y="0"/>
                </a:moveTo>
                <a:lnTo>
                  <a:pt x="14647497" y="0"/>
                </a:lnTo>
                <a:lnTo>
                  <a:pt x="14647497" y="346214"/>
                </a:lnTo>
                <a:lnTo>
                  <a:pt x="0" y="346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92884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Metodología, Plan y Roles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45756" y="3262653"/>
            <a:ext cx="999648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 utlizará metodologías ágiles en el marco de Scrum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24678"/>
            <a:ext cx="651897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Bastian Trostel: Product Owner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Ronald Bruno: Scrum Master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Tomás Perez: Scrum Developer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Cristofer Zapata: Scrum Developer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59094"/>
            <a:ext cx="15673514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Now"/>
                <a:ea typeface="Now"/>
                <a:cs typeface="Now"/>
                <a:sym typeface="Now"/>
              </a:rPr>
              <a:t>Se harán uso de los artefactos Scrum, tales como Sprints,  Daily Meetings, Sprints Reviews, entre otros.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17" y="8293384"/>
            <a:ext cx="19837040" cy="9461966"/>
          </a:xfrm>
          <a:custGeom>
            <a:avLst/>
            <a:gdLst/>
            <a:ahLst/>
            <a:cxnLst/>
            <a:rect r="r" b="b" t="t" l="l"/>
            <a:pathLst>
              <a:path h="9461966" w="19837040">
                <a:moveTo>
                  <a:pt x="0" y="0"/>
                </a:moveTo>
                <a:lnTo>
                  <a:pt x="19837039" y="0"/>
                </a:lnTo>
                <a:lnTo>
                  <a:pt x="19837039" y="9461966"/>
                </a:lnTo>
                <a:lnTo>
                  <a:pt x="0" y="946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3216" y="2722986"/>
            <a:ext cx="14647497" cy="346214"/>
          </a:xfrm>
          <a:custGeom>
            <a:avLst/>
            <a:gdLst/>
            <a:ahLst/>
            <a:cxnLst/>
            <a:rect r="r" b="b" t="t" l="l"/>
            <a:pathLst>
              <a:path h="346214" w="14647497">
                <a:moveTo>
                  <a:pt x="0" y="0"/>
                </a:moveTo>
                <a:lnTo>
                  <a:pt x="14647497" y="0"/>
                </a:lnTo>
                <a:lnTo>
                  <a:pt x="14647497" y="346214"/>
                </a:lnTo>
                <a:lnTo>
                  <a:pt x="0" y="346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55761" y="3193025"/>
            <a:ext cx="11941084" cy="6553603"/>
          </a:xfrm>
          <a:custGeom>
            <a:avLst/>
            <a:gdLst/>
            <a:ahLst/>
            <a:cxnLst/>
            <a:rect r="r" b="b" t="t" l="l"/>
            <a:pathLst>
              <a:path h="6553603" w="11941084">
                <a:moveTo>
                  <a:pt x="0" y="0"/>
                </a:moveTo>
                <a:lnTo>
                  <a:pt x="11941083" y="0"/>
                </a:lnTo>
                <a:lnTo>
                  <a:pt x="11941083" y="6553602"/>
                </a:lnTo>
                <a:lnTo>
                  <a:pt x="0" y="6553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67385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 MVVM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17" y="8293384"/>
            <a:ext cx="19837040" cy="9461966"/>
          </a:xfrm>
          <a:custGeom>
            <a:avLst/>
            <a:gdLst/>
            <a:ahLst/>
            <a:cxnLst/>
            <a:rect r="r" b="b" t="t" l="l"/>
            <a:pathLst>
              <a:path h="9461966" w="19837040">
                <a:moveTo>
                  <a:pt x="0" y="0"/>
                </a:moveTo>
                <a:lnTo>
                  <a:pt x="19837039" y="0"/>
                </a:lnTo>
                <a:lnTo>
                  <a:pt x="19837039" y="9461966"/>
                </a:lnTo>
                <a:lnTo>
                  <a:pt x="0" y="946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3216" y="2722986"/>
            <a:ext cx="14647497" cy="346214"/>
          </a:xfrm>
          <a:custGeom>
            <a:avLst/>
            <a:gdLst/>
            <a:ahLst/>
            <a:cxnLst/>
            <a:rect r="r" b="b" t="t" l="l"/>
            <a:pathLst>
              <a:path h="346214" w="14647497">
                <a:moveTo>
                  <a:pt x="0" y="0"/>
                </a:moveTo>
                <a:lnTo>
                  <a:pt x="14647497" y="0"/>
                </a:lnTo>
                <a:lnTo>
                  <a:pt x="14647497" y="346214"/>
                </a:lnTo>
                <a:lnTo>
                  <a:pt x="0" y="346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84850" y="3069200"/>
            <a:ext cx="13084230" cy="6411273"/>
          </a:xfrm>
          <a:custGeom>
            <a:avLst/>
            <a:gdLst/>
            <a:ahLst/>
            <a:cxnLst/>
            <a:rect r="r" b="b" t="t" l="l"/>
            <a:pathLst>
              <a:path h="6411273" w="13084230">
                <a:moveTo>
                  <a:pt x="0" y="0"/>
                </a:moveTo>
                <a:lnTo>
                  <a:pt x="13084230" y="0"/>
                </a:lnTo>
                <a:lnTo>
                  <a:pt x="13084230" y="6411272"/>
                </a:lnTo>
                <a:lnTo>
                  <a:pt x="0" y="64112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92884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Herramientas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16149">
            <a:off x="10926562" y="7421726"/>
            <a:ext cx="9618404" cy="4587832"/>
          </a:xfrm>
          <a:custGeom>
            <a:avLst/>
            <a:gdLst/>
            <a:ahLst/>
            <a:cxnLst/>
            <a:rect r="r" b="b" t="t" l="l"/>
            <a:pathLst>
              <a:path h="4587832" w="9618404">
                <a:moveTo>
                  <a:pt x="0" y="0"/>
                </a:moveTo>
                <a:lnTo>
                  <a:pt x="9618404" y="0"/>
                </a:lnTo>
                <a:lnTo>
                  <a:pt x="9618404" y="4587832"/>
                </a:lnTo>
                <a:lnTo>
                  <a:pt x="0" y="45878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3216" y="2722986"/>
            <a:ext cx="14647497" cy="346214"/>
          </a:xfrm>
          <a:custGeom>
            <a:avLst/>
            <a:gdLst/>
            <a:ahLst/>
            <a:cxnLst/>
            <a:rect r="r" b="b" t="t" l="l"/>
            <a:pathLst>
              <a:path h="346214" w="14647497">
                <a:moveTo>
                  <a:pt x="0" y="0"/>
                </a:moveTo>
                <a:lnTo>
                  <a:pt x="14647497" y="0"/>
                </a:lnTo>
                <a:lnTo>
                  <a:pt x="14647497" y="346214"/>
                </a:lnTo>
                <a:lnTo>
                  <a:pt x="0" y="3462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92884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Competencias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803216" y="3669810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20667" y="3799708"/>
            <a:ext cx="3456197" cy="115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7"/>
              </a:lnSpc>
            </a:pPr>
            <a:r>
              <a:rPr lang="en-US" sz="2587" spc="1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Diseñar y generar soluciones de software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008073" y="3669810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592685" y="3990208"/>
            <a:ext cx="3456197" cy="77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7"/>
              </a:lnSpc>
            </a:pPr>
            <a:r>
              <a:rPr lang="en-US" sz="2587" spc="1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Arquitectura de Software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212930" y="3669810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30381" y="4119220"/>
            <a:ext cx="3456197" cy="39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7"/>
              </a:lnSpc>
            </a:pPr>
            <a:r>
              <a:rPr lang="en-US" sz="2587" spc="1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Gestión de proyectos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15927" y="6130215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633378" y="6450613"/>
            <a:ext cx="3456197" cy="77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7"/>
              </a:lnSpc>
            </a:pPr>
            <a:r>
              <a:rPr lang="en-US" sz="2587" spc="1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Integración de plataformas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034541" y="6130215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100" y="0"/>
                </a:lnTo>
                <a:lnTo>
                  <a:pt x="4491100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551993" y="6560229"/>
            <a:ext cx="3456197" cy="39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7"/>
              </a:lnSpc>
            </a:pPr>
            <a:r>
              <a:rPr lang="en-US" sz="2587" spc="1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Calidad y Testing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17" y="8293384"/>
            <a:ext cx="19837040" cy="9461966"/>
          </a:xfrm>
          <a:custGeom>
            <a:avLst/>
            <a:gdLst/>
            <a:ahLst/>
            <a:cxnLst/>
            <a:rect r="r" b="b" t="t" l="l"/>
            <a:pathLst>
              <a:path h="9461966" w="19837040">
                <a:moveTo>
                  <a:pt x="0" y="0"/>
                </a:moveTo>
                <a:lnTo>
                  <a:pt x="19837039" y="0"/>
                </a:lnTo>
                <a:lnTo>
                  <a:pt x="19837039" y="9461966"/>
                </a:lnTo>
                <a:lnTo>
                  <a:pt x="0" y="946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140459" y="2773984"/>
          <a:ext cx="16371687" cy="6480378"/>
        </p:xfrm>
        <a:graphic>
          <a:graphicData uri="http://schemas.openxmlformats.org/drawingml/2006/table">
            <a:tbl>
              <a:tblPr/>
              <a:tblGrid>
                <a:gridCol w="1557870"/>
                <a:gridCol w="4169572"/>
                <a:gridCol w="2863721"/>
                <a:gridCol w="2863721"/>
                <a:gridCol w="4916802"/>
              </a:tblGrid>
              <a:tr h="7879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Descripción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C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NPR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C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C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C5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r>
                        <a:rPr lang="en-US" b="true" sz="1500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Plan de respuesta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4C53"/>
                    </a:solidFill>
                  </a:tcPr>
                </a:tc>
              </a:tr>
              <a:tr h="142484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Bloqueo de procesos en segundo plano: El sistema operativo finaliza la app, impidiendo uso de sensores.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Tomás Pérez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RG4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Desarrollar un servicio "Foreground" (notificación persistente) en la arquitectura móvil y guiar al usuario en la instalación para que desactive la "optimización de batería" manualmente.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484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Privacidad de Datos Normativa: Incumplimiento de protección al procesar geolocalización en tiempo real.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Bastián Trostel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RG6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Redactar y forzar la aceptación de Términos y Condiciones explícitos (EULA). Programar el sistema para que borre permanentemente el registro de ubicación tras desactivar la emergencia.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8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Rechazo en Tiendas de Aplicaciones: Google Play/App Store rechazan la app por políticas de SMS o rastreo.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Bastián Trostel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RG13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Leer los lineamientos de revisión. Al subir la app, enviar un video demostrativo a los revisores de Google justificando que la ubicación de fondo es para uso de seguridad vital.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4841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Cambios en políticas de Carabineros: Bloqueo de bots o cambio del canal de recepción.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Bastián Trostel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RG14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Eliminar la dependencia de un canal inestable. Contactar a la municipalidad o sistemas como "Sosafe" para integrarse mediante APIs oficiales, en lugar de depender de bots dirigidos a entidades que no los admiten.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1592884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Riesgos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71710">
            <a:off x="13831431" y="-5908685"/>
            <a:ext cx="12084486" cy="10471825"/>
          </a:xfrm>
          <a:custGeom>
            <a:avLst/>
            <a:gdLst/>
            <a:ahLst/>
            <a:cxnLst/>
            <a:rect r="r" b="b" t="t" l="l"/>
            <a:pathLst>
              <a:path h="10471825" w="12084486">
                <a:moveTo>
                  <a:pt x="0" y="0"/>
                </a:moveTo>
                <a:lnTo>
                  <a:pt x="12084486" y="0"/>
                </a:lnTo>
                <a:lnTo>
                  <a:pt x="12084486" y="10471825"/>
                </a:lnTo>
                <a:lnTo>
                  <a:pt x="0" y="10471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758248">
            <a:off x="-2100465" y="9396532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58248">
            <a:off x="-3024415" y="983930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2"/>
                </a:lnTo>
                <a:lnTo>
                  <a:pt x="0" y="175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5348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Seguridad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31647" y="2264292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39977" y="3900683"/>
            <a:ext cx="4541061" cy="182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Sol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icitar permiso claro al usuario para acceder al micrófono y al GPS en segundo plano</a:t>
            </a:r>
          </a:p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Asegurar que el manejo de datos respeta la Ley 19.628 de protección de datos en Chile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9099" y="2259697"/>
            <a:ext cx="3456197" cy="1364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 spc="38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PRIVACIDAD Y CU</a:t>
            </a:r>
            <a:r>
              <a:rPr lang="en-US" sz="2587" spc="38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MPLIMIENTO NORMATIVO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193930" y="2316847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315291" y="4053083"/>
            <a:ext cx="4541061" cy="151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sistema solo debe rastrear y grabar cuando la emergencia es activada.</a:t>
            </a:r>
          </a:p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Eliminar o anonimizar los audios y registros de ubicación inmediatamente después de que se desactive la alerta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15291" y="2407807"/>
            <a:ext cx="4248376" cy="112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0" spc="46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RETENC</a:t>
            </a:r>
            <a:r>
              <a:rPr lang="en-US" sz="3180" spc="467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IÓN DE INFORMACIÓN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61338" y="6132694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61338" y="7840624"/>
            <a:ext cx="4541061" cy="182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ncriptar las coordenadas y audios tanto al enviarlos como al guardarlos en la base de datos.</a:t>
            </a:r>
          </a:p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El equipo de desarrollo no debe tener acceso libre a la información real de los usuarios en producción.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33490" y="6136855"/>
            <a:ext cx="3546795" cy="1408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17"/>
              </a:lnSpc>
              <a:spcBef>
                <a:spcPct val="0"/>
              </a:spcBef>
            </a:pPr>
            <a:r>
              <a:rPr lang="en-US" sz="2655" spc="39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SEGUR</a:t>
            </a:r>
            <a:r>
              <a:rPr lang="en-US" sz="2655" spc="39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IDAD Y CONTROL DE ACCESO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976149" y="6132694"/>
            <a:ext cx="4491099" cy="1412655"/>
          </a:xfrm>
          <a:custGeom>
            <a:avLst/>
            <a:gdLst/>
            <a:ahLst/>
            <a:cxnLst/>
            <a:rect r="r" b="b" t="t" l="l"/>
            <a:pathLst>
              <a:path h="1412655" w="4491099">
                <a:moveTo>
                  <a:pt x="0" y="0"/>
                </a:moveTo>
                <a:lnTo>
                  <a:pt x="4491099" y="0"/>
                </a:lnTo>
                <a:lnTo>
                  <a:pt x="4491099" y="1412655"/>
                </a:lnTo>
                <a:lnTo>
                  <a:pt x="0" y="1412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315291" y="7868291"/>
            <a:ext cx="4541061" cy="1822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Mantene</a:t>
            </a: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 un registro automático de cuándo se activaron las alertas y qué contactos fueron notificados.</a:t>
            </a:r>
          </a:p>
          <a:p>
            <a:pPr algn="l">
              <a:lnSpc>
                <a:spcPts val="2450"/>
              </a:lnSpc>
            </a:pPr>
            <a:r>
              <a:rPr lang="en-US" sz="1750" spc="3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Definir los pasos a seguir si ocurre una vulneración o filtración en los servicios de la nube.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15291" y="6318210"/>
            <a:ext cx="3982166" cy="104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74"/>
              </a:lnSpc>
              <a:spcBef>
                <a:spcPct val="0"/>
              </a:spcBef>
            </a:pPr>
            <a:r>
              <a:rPr lang="en-US" sz="2981" spc="4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TRAZAB</a:t>
            </a:r>
            <a:r>
              <a:rPr lang="en-US" sz="2981" spc="43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ILIDAD Y CONTROL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2217" y="8293384"/>
            <a:ext cx="19837040" cy="9461966"/>
          </a:xfrm>
          <a:custGeom>
            <a:avLst/>
            <a:gdLst/>
            <a:ahLst/>
            <a:cxnLst/>
            <a:rect r="r" b="b" t="t" l="l"/>
            <a:pathLst>
              <a:path h="9461966" w="19837040">
                <a:moveTo>
                  <a:pt x="0" y="0"/>
                </a:moveTo>
                <a:lnTo>
                  <a:pt x="19837039" y="0"/>
                </a:lnTo>
                <a:lnTo>
                  <a:pt x="19837039" y="9461966"/>
                </a:lnTo>
                <a:lnTo>
                  <a:pt x="0" y="9461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503" t="0" r="-2413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92315" y="612415"/>
            <a:ext cx="559181" cy="296366"/>
          </a:xfrm>
          <a:custGeom>
            <a:avLst/>
            <a:gdLst/>
            <a:ahLst/>
            <a:cxnLst/>
            <a:rect r="r" b="b" t="t" l="l"/>
            <a:pathLst>
              <a:path h="296366" w="559181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08331" y="1268486"/>
            <a:ext cx="12235717" cy="8649123"/>
          </a:xfrm>
          <a:custGeom>
            <a:avLst/>
            <a:gdLst/>
            <a:ahLst/>
            <a:cxnLst/>
            <a:rect r="r" b="b" t="t" l="l"/>
            <a:pathLst>
              <a:path h="8649123" w="12235717">
                <a:moveTo>
                  <a:pt x="0" y="0"/>
                </a:moveTo>
                <a:lnTo>
                  <a:pt x="12235717" y="0"/>
                </a:lnTo>
                <a:lnTo>
                  <a:pt x="12235717" y="8649122"/>
                </a:lnTo>
                <a:lnTo>
                  <a:pt x="0" y="86491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581" y="4133850"/>
            <a:ext cx="4935412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Negocio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3309" y="1268486"/>
            <a:ext cx="6873872" cy="162473"/>
          </a:xfrm>
          <a:custGeom>
            <a:avLst/>
            <a:gdLst/>
            <a:ahLst/>
            <a:cxnLst/>
            <a:rect r="r" b="b" t="t" l="l"/>
            <a:pathLst>
              <a:path h="162473" w="6873872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71710">
            <a:off x="13831431" y="-5908685"/>
            <a:ext cx="12084486" cy="10471825"/>
          </a:xfrm>
          <a:custGeom>
            <a:avLst/>
            <a:gdLst/>
            <a:ahLst/>
            <a:cxnLst/>
            <a:rect r="r" b="b" t="t" l="l"/>
            <a:pathLst>
              <a:path h="10471825" w="12084486">
                <a:moveTo>
                  <a:pt x="0" y="0"/>
                </a:moveTo>
                <a:lnTo>
                  <a:pt x="12084486" y="0"/>
                </a:lnTo>
                <a:lnTo>
                  <a:pt x="12084486" y="10471825"/>
                </a:lnTo>
                <a:lnTo>
                  <a:pt x="0" y="104718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758248">
            <a:off x="-2100465" y="9396532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7758248">
            <a:off x="-3024415" y="983930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2"/>
                </a:lnTo>
                <a:lnTo>
                  <a:pt x="0" y="1754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03216" y="2722986"/>
            <a:ext cx="14647497" cy="346214"/>
          </a:xfrm>
          <a:custGeom>
            <a:avLst/>
            <a:gdLst/>
            <a:ahLst/>
            <a:cxnLst/>
            <a:rect r="r" b="b" t="t" l="l"/>
            <a:pathLst>
              <a:path h="346214" w="14647497">
                <a:moveTo>
                  <a:pt x="0" y="0"/>
                </a:moveTo>
                <a:lnTo>
                  <a:pt x="14647497" y="0"/>
                </a:lnTo>
                <a:lnTo>
                  <a:pt x="14647497" y="346214"/>
                </a:lnTo>
                <a:lnTo>
                  <a:pt x="0" y="3462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089320" y="3193025"/>
            <a:ext cx="10075289" cy="6716860"/>
          </a:xfrm>
          <a:custGeom>
            <a:avLst/>
            <a:gdLst/>
            <a:ahLst/>
            <a:cxnLst/>
            <a:rect r="r" b="b" t="t" l="l"/>
            <a:pathLst>
              <a:path h="6716860" w="10075289">
                <a:moveTo>
                  <a:pt x="0" y="0"/>
                </a:moveTo>
                <a:lnTo>
                  <a:pt x="10075289" y="0"/>
                </a:lnTo>
                <a:lnTo>
                  <a:pt x="10075289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592884"/>
            <a:ext cx="162306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  <a:spcBef>
                <a:spcPct val="0"/>
              </a:spcBef>
            </a:pPr>
            <a:r>
              <a:rPr lang="en-US" b="true" sz="66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Mockups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033" y="1202727"/>
            <a:ext cx="15422937" cy="7730827"/>
            <a:chOff x="0" y="0"/>
            <a:chExt cx="4220887" cy="2115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0887" cy="2115742"/>
            </a:xfrm>
            <a:custGeom>
              <a:avLst/>
              <a:gdLst/>
              <a:ahLst/>
              <a:cxnLst/>
              <a:rect r="r" b="b" t="t" l="l"/>
              <a:pathLst>
                <a:path h="2115742" w="4220887">
                  <a:moveTo>
                    <a:pt x="0" y="0"/>
                  </a:moveTo>
                  <a:lnTo>
                    <a:pt x="4220887" y="0"/>
                  </a:lnTo>
                  <a:lnTo>
                    <a:pt x="4220887" y="2115742"/>
                  </a:lnTo>
                  <a:lnTo>
                    <a:pt x="0" y="2115742"/>
                  </a:lnTo>
                  <a:close/>
                </a:path>
              </a:pathLst>
            </a:custGeom>
            <a:solidFill>
              <a:srgbClr val="EFEE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20887" cy="2153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13833159" y="4118825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1978448" y="48817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2963613" y="5960567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08902" y="9591221"/>
            <a:ext cx="7423782" cy="175471"/>
          </a:xfrm>
          <a:custGeom>
            <a:avLst/>
            <a:gdLst/>
            <a:ahLst/>
            <a:cxnLst/>
            <a:rect r="r" b="b" t="t" l="l"/>
            <a:pathLst>
              <a:path h="175471" w="7423782">
                <a:moveTo>
                  <a:pt x="0" y="0"/>
                </a:moveTo>
                <a:lnTo>
                  <a:pt x="7423782" y="0"/>
                </a:lnTo>
                <a:lnTo>
                  <a:pt x="7423782" y="175471"/>
                </a:lnTo>
                <a:lnTo>
                  <a:pt x="0" y="17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9928" y="1509832"/>
            <a:ext cx="9832863" cy="1672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8"/>
              </a:lnSpc>
            </a:pPr>
            <a:r>
              <a:rPr lang="en-US" b="true" sz="11100">
                <a:solidFill>
                  <a:srgbClr val="1E1E1E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CONCLUSIÓN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679209" y="3463639"/>
            <a:ext cx="1347074" cy="1347074"/>
          </a:xfrm>
          <a:custGeom>
            <a:avLst/>
            <a:gdLst/>
            <a:ahLst/>
            <a:cxnLst/>
            <a:rect r="r" b="b" t="t" l="l"/>
            <a:pathLst>
              <a:path h="1347074" w="1347074">
                <a:moveTo>
                  <a:pt x="0" y="0"/>
                </a:moveTo>
                <a:lnTo>
                  <a:pt x="1347074" y="0"/>
                </a:lnTo>
                <a:lnTo>
                  <a:pt x="1347074" y="1347074"/>
                </a:lnTo>
                <a:lnTo>
                  <a:pt x="0" y="13470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07360" y="3573671"/>
            <a:ext cx="8051665" cy="217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6"/>
              </a:lnSpc>
            </a:pPr>
            <a:r>
              <a:rPr lang="en-US" sz="2011" spc="44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Aplicando metodologías ágiles y una estricta gestión de riesgos, es posible construir un sistema robusto, escalable y tolerante a fallos dentro de los plazos establecidos</a:t>
            </a: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</a:p>
          <a:p>
            <a:pPr algn="l">
              <a:lnSpc>
                <a:spcPts val="281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587262" y="6708463"/>
            <a:ext cx="7667740" cy="206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1916" spc="42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Nuestra infraestructura permite escalar el modelo hacia integraciones con dispositivos IoT, como smartwatches, y facilita la futura conexión mediante APIs oficiales con sistemas de seguridad municipal, proyectando esta solución académica como un producto con alto potencial de mercado</a:t>
            </a:r>
          </a:p>
          <a:p>
            <a:pPr algn="l">
              <a:lnSpc>
                <a:spcPts val="2682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679209" y="6784663"/>
            <a:ext cx="1441496" cy="1498719"/>
          </a:xfrm>
          <a:custGeom>
            <a:avLst/>
            <a:gdLst/>
            <a:ahLst/>
            <a:cxnLst/>
            <a:rect r="r" b="b" t="t" l="l"/>
            <a:pathLst>
              <a:path h="1498719" w="1441496">
                <a:moveTo>
                  <a:pt x="0" y="0"/>
                </a:moveTo>
                <a:lnTo>
                  <a:pt x="1441495" y="0"/>
                </a:lnTo>
                <a:lnTo>
                  <a:pt x="1441495" y="1498720"/>
                </a:lnTo>
                <a:lnTo>
                  <a:pt x="0" y="14987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54502" y="5227702"/>
            <a:ext cx="8370564" cy="1156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091" spc="46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Se demostrará que la tecnología bien aplicada tiene el poder de reducir los tiempos de reacción y, potencialmente, salvar vidas</a:t>
            </a:r>
          </a:p>
          <a:p>
            <a:pPr algn="l">
              <a:lnSpc>
                <a:spcPts val="2928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366546" y="5143500"/>
            <a:ext cx="1048632" cy="1361124"/>
          </a:xfrm>
          <a:custGeom>
            <a:avLst/>
            <a:gdLst/>
            <a:ahLst/>
            <a:cxnLst/>
            <a:rect r="r" b="b" t="t" l="l"/>
            <a:pathLst>
              <a:path h="1361124" w="1048632">
                <a:moveTo>
                  <a:pt x="0" y="0"/>
                </a:moveTo>
                <a:lnTo>
                  <a:pt x="1048632" y="0"/>
                </a:lnTo>
                <a:lnTo>
                  <a:pt x="1048632" y="1361124"/>
                </a:lnTo>
                <a:lnTo>
                  <a:pt x="0" y="1361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93628" y="421552"/>
            <a:ext cx="2755422" cy="678092"/>
          </a:xfrm>
          <a:custGeom>
            <a:avLst/>
            <a:gdLst/>
            <a:ahLst/>
            <a:cxnLst/>
            <a:rect r="r" b="b" t="t" l="l"/>
            <a:pathLst>
              <a:path h="678092" w="2755422">
                <a:moveTo>
                  <a:pt x="0" y="0"/>
                </a:moveTo>
                <a:lnTo>
                  <a:pt x="2755422" y="0"/>
                </a:lnTo>
                <a:lnTo>
                  <a:pt x="2755422" y="678092"/>
                </a:lnTo>
                <a:lnTo>
                  <a:pt x="0" y="6780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DAHTnzrDP4Q</dc:identifier>
  <dcterms:modified xsi:type="dcterms:W3CDTF">2011-08-01T06:04:30Z</dcterms:modified>
  <cp:revision>1</cp:revision>
  <dc:title>PPT Capstone 1</dc:title>
</cp:coreProperties>
</file>