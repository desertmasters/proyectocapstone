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Kollektif" panose="020B0604020202020204" charset="0"/>
      <p:regular r:id="rId21"/>
    </p:embeddedFont>
    <p:embeddedFont>
      <p:font typeface="Kollektif Bold" panose="020B0604020202020204" charset="0"/>
      <p:regular r:id="rId22"/>
    </p:embeddedFont>
    <p:embeddedFont>
      <p:font typeface="League Spartan" panose="020B0604020202020204" charset="0"/>
      <p:regular r:id="rId23"/>
    </p:embeddedFont>
    <p:embeddedFont>
      <p:font typeface="Now" panose="020B0604020202020204" charset="0"/>
      <p:regular r:id="rId24"/>
    </p:embeddedFont>
    <p:embeddedFont>
      <p:font typeface="Now Bold" panose="020B0604020202020204" charset="0"/>
      <p:regular r:id="rId25"/>
    </p:embeddedFont>
    <p:embeddedFont>
      <p:font typeface="Open Sans" panose="020B0604020202020204" pitchFamily="34" charset="0"/>
      <p:regular r:id="rId26"/>
    </p:embeddedFont>
    <p:embeddedFont>
      <p:font typeface="Open Sans Bold" panose="020B0604020202020204" charset="0"/>
      <p:regular r:id="rId27"/>
    </p:embeddedFont>
    <p:embeddedFont>
      <p:font typeface="Raleway" panose="020B0604020202020204" pitchFamily="2" charset="0"/>
      <p:regular r:id="rId28"/>
    </p:embeddedFont>
    <p:embeddedFont>
      <p:font typeface="Raleway 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114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2.sv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10" Type="http://schemas.openxmlformats.org/officeDocument/2006/relationships/image" Target="../media/image19.svg"/><Relationship Id="rId4" Type="http://schemas.openxmlformats.org/officeDocument/2006/relationships/image" Target="../media/image12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image" Target="../media/image15.svg"/><Relationship Id="rId7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10" Type="http://schemas.openxmlformats.org/officeDocument/2006/relationships/image" Target="../media/image19.svg"/><Relationship Id="rId4" Type="http://schemas.openxmlformats.org/officeDocument/2006/relationships/image" Target="../media/image3.png"/><Relationship Id="rId9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9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image" Target="../media/image15.svg"/><Relationship Id="rId7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3.png"/><Relationship Id="rId9" Type="http://schemas.openxmlformats.org/officeDocument/2006/relationships/image" Target="../media/image23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svg"/><Relationship Id="rId7" Type="http://schemas.openxmlformats.org/officeDocument/2006/relationships/image" Target="../media/image2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9.svg"/><Relationship Id="rId10" Type="http://schemas.openxmlformats.org/officeDocument/2006/relationships/image" Target="../media/image3.png"/><Relationship Id="rId4" Type="http://schemas.openxmlformats.org/officeDocument/2006/relationships/image" Target="../media/image8.png"/><Relationship Id="rId9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43871" y="4219426"/>
            <a:ext cx="14200257" cy="1756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21"/>
              </a:lnSpc>
            </a:pPr>
            <a:r>
              <a:rPr lang="en-US" sz="10837" b="1">
                <a:solidFill>
                  <a:srgbClr val="FFFFFF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SEGURAPP</a:t>
            </a:r>
          </a:p>
        </p:txBody>
      </p:sp>
      <p:sp>
        <p:nvSpPr>
          <p:cNvPr id="3" name="Freeform 3"/>
          <p:cNvSpPr/>
          <p:nvPr/>
        </p:nvSpPr>
        <p:spPr>
          <a:xfrm rot="-5400000">
            <a:off x="13833159" y="4118825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0800000">
            <a:off x="11978448" y="48817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2963613" y="5960567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108902" y="959122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28700" y="740984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4448892" y="3581697"/>
            <a:ext cx="9390215" cy="7520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36"/>
              </a:lnSpc>
            </a:pPr>
            <a:r>
              <a:rPr lang="en-US" sz="5214" b="1" spc="229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Proyecto APT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28963" y="8267332"/>
            <a:ext cx="4545365" cy="1076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59"/>
              </a:lnSpc>
            </a:pPr>
            <a:r>
              <a:rPr lang="en-US" sz="21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Capstone</a:t>
            </a:r>
          </a:p>
          <a:p>
            <a:pPr algn="l">
              <a:lnSpc>
                <a:spcPts val="2859"/>
              </a:lnSpc>
            </a:pPr>
            <a:r>
              <a:rPr lang="en-US" sz="21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Sección: 800D</a:t>
            </a:r>
          </a:p>
          <a:p>
            <a:pPr marL="0" lvl="0" indent="0" algn="l">
              <a:lnSpc>
                <a:spcPts val="2859"/>
              </a:lnSpc>
              <a:spcBef>
                <a:spcPct val="0"/>
              </a:spcBef>
            </a:pPr>
            <a:r>
              <a:rPr lang="en-US" sz="21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Docente: Aldo Martinez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39376" y="7430955"/>
            <a:ext cx="4756684" cy="36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59"/>
              </a:lnSpc>
              <a:spcBef>
                <a:spcPct val="0"/>
              </a:spcBef>
            </a:pPr>
            <a:r>
              <a:rPr lang="en-US" sz="2199" b="1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Integrantes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339376" y="7878097"/>
            <a:ext cx="4756684" cy="1800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59"/>
              </a:lnSpc>
            </a:pPr>
            <a:r>
              <a:rPr lang="en-US" sz="21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Ronald Bruno</a:t>
            </a:r>
          </a:p>
          <a:p>
            <a:pPr algn="r">
              <a:lnSpc>
                <a:spcPts val="2859"/>
              </a:lnSpc>
            </a:pPr>
            <a:r>
              <a:rPr lang="en-US" sz="21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Tomás Pérez</a:t>
            </a:r>
          </a:p>
          <a:p>
            <a:pPr algn="r">
              <a:lnSpc>
                <a:spcPts val="2859"/>
              </a:lnSpc>
            </a:pPr>
            <a:r>
              <a:rPr lang="en-US" sz="21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Bastián Trostel</a:t>
            </a:r>
          </a:p>
          <a:p>
            <a:pPr algn="r">
              <a:lnSpc>
                <a:spcPts val="2859"/>
              </a:lnSpc>
            </a:pPr>
            <a:r>
              <a:rPr lang="en-US" sz="21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Cristofer Zapata</a:t>
            </a:r>
          </a:p>
          <a:p>
            <a:pPr marL="0" lvl="0" indent="0" algn="r">
              <a:lnSpc>
                <a:spcPts val="2859"/>
              </a:lnSpc>
              <a:spcBef>
                <a:spcPct val="0"/>
              </a:spcBef>
            </a:pPr>
            <a:endParaRPr lang="en-US" sz="2199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338200" y="6029252"/>
            <a:ext cx="9611599" cy="715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59"/>
              </a:lnSpc>
              <a:spcBef>
                <a:spcPct val="0"/>
              </a:spcBef>
            </a:pPr>
            <a:r>
              <a:rPr lang="en-US" sz="21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Sistema Móvil de Alerta Rápida para Prevención y Respuesta ante incidentes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8193" y="1250950"/>
            <a:ext cx="15264187" cy="7730827"/>
            <a:chOff x="0" y="0"/>
            <a:chExt cx="4177441" cy="2115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77442" cy="2115742"/>
            </a:xfrm>
            <a:custGeom>
              <a:avLst/>
              <a:gdLst/>
              <a:ahLst/>
              <a:cxnLst/>
              <a:rect l="l" t="t" r="r" b="b"/>
              <a:pathLst>
                <a:path w="4177442" h="2115742">
                  <a:moveTo>
                    <a:pt x="0" y="0"/>
                  </a:moveTo>
                  <a:lnTo>
                    <a:pt x="4177442" y="0"/>
                  </a:lnTo>
                  <a:lnTo>
                    <a:pt x="4177442" y="2115742"/>
                  </a:lnTo>
                  <a:lnTo>
                    <a:pt x="0" y="2115742"/>
                  </a:lnTo>
                  <a:close/>
                </a:path>
              </a:pathLst>
            </a:custGeom>
            <a:solidFill>
              <a:srgbClr val="EFEEE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177441" cy="2163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419199" y="1574802"/>
            <a:ext cx="9454930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79"/>
              </a:lnSpc>
            </a:pPr>
            <a:r>
              <a:rPr lang="en-US" sz="8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ÍNDICE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826038" y="2860677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26038" y="3681343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841803" y="4506841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26038" y="5416478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284721" y="6295082"/>
            <a:ext cx="1268191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824317" y="3104678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Introducción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842531" y="3925344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Contexto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842531" y="4744888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Problemática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07713" y="5660480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Solución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823478" y="6441134"/>
            <a:ext cx="3030991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Metodología, Plan y Roles</a:t>
            </a:r>
          </a:p>
        </p:txBody>
      </p:sp>
      <p:sp>
        <p:nvSpPr>
          <p:cNvPr id="16" name="Freeform 16"/>
          <p:cNvSpPr/>
          <p:nvPr/>
        </p:nvSpPr>
        <p:spPr>
          <a:xfrm rot="-5400000">
            <a:off x="13833159" y="4118825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 rot="-10800000">
            <a:off x="11978448" y="48817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 rot="5400000">
            <a:off x="-2963613" y="5960567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-1108902" y="959122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3841803" y="7317434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842531" y="7493966"/>
            <a:ext cx="3046756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Arquitectura y Herramientas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140286" y="2933228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140286" y="3753894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156051" y="4579392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09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0286" y="5489030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10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598969" y="6367633"/>
            <a:ext cx="1268191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11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156780" y="3104678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Competencias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129843" y="3925344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Riesgos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170867" y="4792119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Seguridad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107477" y="5695007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Modelo de negocio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129843" y="6561782"/>
            <a:ext cx="303099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Mockups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65513" y="7322516"/>
            <a:ext cx="1729066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759"/>
              </a:lnSpc>
            </a:pPr>
            <a:r>
              <a:rPr lang="en-US" sz="4800" b="1" spc="369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156780" y="7493966"/>
            <a:ext cx="3046756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1E1E1E"/>
                </a:solidFill>
                <a:latin typeface="Raleway Bold"/>
                <a:ea typeface="Raleway Bold"/>
                <a:cs typeface="Raleway Bold"/>
                <a:sym typeface="Raleway Bold"/>
              </a:rPr>
              <a:t>Conclusión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9443" y="1250950"/>
            <a:ext cx="15422937" cy="7730827"/>
            <a:chOff x="0" y="0"/>
            <a:chExt cx="4220887" cy="2115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20887" cy="2115742"/>
            </a:xfrm>
            <a:custGeom>
              <a:avLst/>
              <a:gdLst/>
              <a:ahLst/>
              <a:cxnLst/>
              <a:rect l="l" t="t" r="r" b="b"/>
              <a:pathLst>
                <a:path w="4220887" h="2115742">
                  <a:moveTo>
                    <a:pt x="0" y="0"/>
                  </a:moveTo>
                  <a:lnTo>
                    <a:pt x="4220887" y="0"/>
                  </a:lnTo>
                  <a:lnTo>
                    <a:pt x="4220887" y="2115742"/>
                  </a:lnTo>
                  <a:lnTo>
                    <a:pt x="0" y="2115742"/>
                  </a:lnTo>
                  <a:close/>
                </a:path>
              </a:pathLst>
            </a:custGeom>
            <a:solidFill>
              <a:srgbClr val="EFEEE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20887" cy="2153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5400000">
            <a:off x="13833159" y="4118825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>
            <a:off x="11978448" y="48817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-2963613" y="5960567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108902" y="959122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11725" y="7421091"/>
            <a:ext cx="1048632" cy="1361124"/>
          </a:xfrm>
          <a:custGeom>
            <a:avLst/>
            <a:gdLst/>
            <a:ahLst/>
            <a:cxnLst/>
            <a:rect l="l" t="t" r="r" b="b"/>
            <a:pathLst>
              <a:path w="1048632" h="1361124">
                <a:moveTo>
                  <a:pt x="0" y="0"/>
                </a:moveTo>
                <a:lnTo>
                  <a:pt x="1048632" y="0"/>
                </a:lnTo>
                <a:lnTo>
                  <a:pt x="1048632" y="1361125"/>
                </a:lnTo>
                <a:lnTo>
                  <a:pt x="0" y="13611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255503" y="1963551"/>
            <a:ext cx="8118754" cy="2042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15"/>
              </a:lnSpc>
            </a:pPr>
            <a:r>
              <a:rPr lang="en-US" sz="7974">
                <a:solidFill>
                  <a:srgbClr val="1E1E1E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Introducción al proyecto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42125" y="4454160"/>
            <a:ext cx="11603751" cy="3073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</a:pPr>
            <a:r>
              <a:rPr lang="en-US" sz="2899" spc="63">
                <a:solidFill>
                  <a:srgbClr val="000000"/>
                </a:solidFill>
                <a:latin typeface="Kollektif"/>
                <a:ea typeface="Kollektif"/>
                <a:cs typeface="Kollektif"/>
                <a:sym typeface="Kollektif"/>
              </a:rPr>
              <a:t>Nuestro grupo de estudiantes informáticos culminaremos nuestros conocimientos para formar a través de todo el ciclo de vida de un software, gestionar y evaluar correctamente el producto, utilizando las metodologías correctas, así como integraciones satisfactorias para entregar una solución a una problemática que ocurre diariamente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9443" y="1250950"/>
            <a:ext cx="15422937" cy="7730827"/>
            <a:chOff x="0" y="0"/>
            <a:chExt cx="4220887" cy="2115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20887" cy="2115742"/>
            </a:xfrm>
            <a:custGeom>
              <a:avLst/>
              <a:gdLst/>
              <a:ahLst/>
              <a:cxnLst/>
              <a:rect l="l" t="t" r="r" b="b"/>
              <a:pathLst>
                <a:path w="4220887" h="2115742">
                  <a:moveTo>
                    <a:pt x="0" y="0"/>
                  </a:moveTo>
                  <a:lnTo>
                    <a:pt x="4220887" y="0"/>
                  </a:lnTo>
                  <a:lnTo>
                    <a:pt x="4220887" y="2115742"/>
                  </a:lnTo>
                  <a:lnTo>
                    <a:pt x="0" y="2115742"/>
                  </a:lnTo>
                  <a:close/>
                </a:path>
              </a:pathLst>
            </a:custGeom>
            <a:solidFill>
              <a:srgbClr val="EFEEE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20887" cy="2153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5400000">
            <a:off x="13833159" y="4118825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>
            <a:off x="11978448" y="48817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-2963613" y="5960567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108902" y="959122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67452" y="7237890"/>
            <a:ext cx="1048632" cy="1361124"/>
          </a:xfrm>
          <a:custGeom>
            <a:avLst/>
            <a:gdLst/>
            <a:ahLst/>
            <a:cxnLst/>
            <a:rect l="l" t="t" r="r" b="b"/>
            <a:pathLst>
              <a:path w="1048632" h="1361124">
                <a:moveTo>
                  <a:pt x="0" y="0"/>
                </a:moveTo>
                <a:lnTo>
                  <a:pt x="1048632" y="0"/>
                </a:lnTo>
                <a:lnTo>
                  <a:pt x="1048632" y="1361124"/>
                </a:lnTo>
                <a:lnTo>
                  <a:pt x="0" y="13611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206564" y="2037836"/>
            <a:ext cx="6562484" cy="105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15"/>
              </a:lnSpc>
            </a:pPr>
            <a:r>
              <a:rPr lang="en-US" sz="7974">
                <a:solidFill>
                  <a:srgbClr val="1E1E1E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Contexto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738841" y="7169092"/>
            <a:ext cx="1381547" cy="1498719"/>
          </a:xfrm>
          <a:custGeom>
            <a:avLst/>
            <a:gdLst/>
            <a:ahLst/>
            <a:cxnLst/>
            <a:rect l="l" t="t" r="r" b="b"/>
            <a:pathLst>
              <a:path w="1381547" h="1498719">
                <a:moveTo>
                  <a:pt x="0" y="0"/>
                </a:moveTo>
                <a:lnTo>
                  <a:pt x="1381547" y="0"/>
                </a:lnTo>
                <a:lnTo>
                  <a:pt x="1381547" y="1498720"/>
                </a:lnTo>
                <a:lnTo>
                  <a:pt x="0" y="149872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3259036" y="3751290"/>
            <a:ext cx="11603751" cy="3073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</a:pPr>
            <a:r>
              <a:rPr lang="en-US" sz="2899" spc="63">
                <a:solidFill>
                  <a:srgbClr val="000000"/>
                </a:solidFill>
                <a:latin typeface="Kollektif"/>
                <a:ea typeface="Kollektif"/>
                <a:cs typeface="Kollektif"/>
                <a:sym typeface="Kollektif"/>
              </a:rPr>
              <a:t>Actualmente en Chile, las personas enfrentan una constante exposición a delitos que atentan contra la integridad de las personas como robos, asaltos, acoso y agresiones, estas situaciones ocurren en vía pública o recintos privados, siendo una situación que requiere de herramientas para resguardar la seguridad de las personas diariamente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9443" y="1250950"/>
            <a:ext cx="15422937" cy="7730827"/>
            <a:chOff x="0" y="0"/>
            <a:chExt cx="4220887" cy="2115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20887" cy="2115742"/>
            </a:xfrm>
            <a:custGeom>
              <a:avLst/>
              <a:gdLst/>
              <a:ahLst/>
              <a:cxnLst/>
              <a:rect l="l" t="t" r="r" b="b"/>
              <a:pathLst>
                <a:path w="4220887" h="2115742">
                  <a:moveTo>
                    <a:pt x="0" y="0"/>
                  </a:moveTo>
                  <a:lnTo>
                    <a:pt x="4220887" y="0"/>
                  </a:lnTo>
                  <a:lnTo>
                    <a:pt x="4220887" y="2115742"/>
                  </a:lnTo>
                  <a:lnTo>
                    <a:pt x="0" y="2115742"/>
                  </a:lnTo>
                  <a:close/>
                </a:path>
              </a:pathLst>
            </a:custGeom>
            <a:solidFill>
              <a:srgbClr val="EFEEE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20887" cy="2153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5400000">
            <a:off x="13833159" y="4118825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>
            <a:off x="11978448" y="48817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-2963613" y="5960567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108902" y="959122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971339" y="1636273"/>
            <a:ext cx="1231928" cy="1599043"/>
          </a:xfrm>
          <a:custGeom>
            <a:avLst/>
            <a:gdLst/>
            <a:ahLst/>
            <a:cxnLst/>
            <a:rect l="l" t="t" r="r" b="b"/>
            <a:pathLst>
              <a:path w="1231928" h="1599043">
                <a:moveTo>
                  <a:pt x="0" y="0"/>
                </a:moveTo>
                <a:lnTo>
                  <a:pt x="1231928" y="0"/>
                </a:lnTo>
                <a:lnTo>
                  <a:pt x="1231928" y="1599043"/>
                </a:lnTo>
                <a:lnTo>
                  <a:pt x="0" y="159904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4830082" y="2498336"/>
            <a:ext cx="8118754" cy="105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15"/>
              </a:lnSpc>
            </a:pPr>
            <a:r>
              <a:rPr lang="en-US" sz="7974">
                <a:solidFill>
                  <a:srgbClr val="1E1E1E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Problemática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689453" y="7054688"/>
            <a:ext cx="1727527" cy="1727527"/>
          </a:xfrm>
          <a:custGeom>
            <a:avLst/>
            <a:gdLst/>
            <a:ahLst/>
            <a:cxnLst/>
            <a:rect l="l" t="t" r="r" b="b"/>
            <a:pathLst>
              <a:path w="1727527" h="1727527">
                <a:moveTo>
                  <a:pt x="0" y="0"/>
                </a:moveTo>
                <a:lnTo>
                  <a:pt x="1727528" y="0"/>
                </a:lnTo>
                <a:lnTo>
                  <a:pt x="1727528" y="1727528"/>
                </a:lnTo>
                <a:lnTo>
                  <a:pt x="0" y="17275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141908" y="4199664"/>
            <a:ext cx="9838006" cy="2185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41"/>
              </a:lnSpc>
            </a:pPr>
            <a:r>
              <a:rPr lang="en-US" sz="2458" spc="54">
                <a:solidFill>
                  <a:srgbClr val="000000"/>
                </a:solidFill>
                <a:latin typeface="Kollektif"/>
                <a:ea typeface="Kollektif"/>
                <a:cs typeface="Kollektif"/>
                <a:sym typeface="Kollektif"/>
              </a:rPr>
              <a:t>A pesar de la gran frecuencia de incidentes de este ámbito, los mecanismos o herramientas actuales presentan ineficiencias. Se requiere de interacción manual para notificar, los canales de respuesta utilizan alertas estáticas de la ubicación o al llamar toma demasiado tiempo para que acudan al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751426"/>
            <a:ext cx="16230600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Solución</a:t>
            </a:r>
          </a:p>
        </p:txBody>
      </p:sp>
      <p:sp>
        <p:nvSpPr>
          <p:cNvPr id="3" name="Freeform 3"/>
          <p:cNvSpPr/>
          <p:nvPr/>
        </p:nvSpPr>
        <p:spPr>
          <a:xfrm>
            <a:off x="-592217" y="8293384"/>
            <a:ext cx="19837040" cy="9461966"/>
          </a:xfrm>
          <a:custGeom>
            <a:avLst/>
            <a:gdLst/>
            <a:ahLst/>
            <a:cxnLst/>
            <a:rect l="l" t="t" r="r" b="b"/>
            <a:pathLst>
              <a:path w="19837040" h="9461966">
                <a:moveTo>
                  <a:pt x="0" y="0"/>
                </a:moveTo>
                <a:lnTo>
                  <a:pt x="19837039" y="0"/>
                </a:lnTo>
                <a:lnTo>
                  <a:pt x="19837039" y="9461966"/>
                </a:lnTo>
                <a:lnTo>
                  <a:pt x="0" y="9461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7503" r="-24139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6735961" y="3094451"/>
            <a:ext cx="4878150" cy="5769038"/>
            <a:chOff x="0" y="0"/>
            <a:chExt cx="1284780" cy="151941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284780" cy="1519417"/>
            </a:xfrm>
            <a:custGeom>
              <a:avLst/>
              <a:gdLst/>
              <a:ahLst/>
              <a:cxnLst/>
              <a:rect l="l" t="t" r="r" b="b"/>
              <a:pathLst>
                <a:path w="1284780" h="1519417">
                  <a:moveTo>
                    <a:pt x="0" y="0"/>
                  </a:moveTo>
                  <a:lnTo>
                    <a:pt x="1284780" y="0"/>
                  </a:lnTo>
                  <a:lnTo>
                    <a:pt x="1284780" y="1519417"/>
                  </a:lnTo>
                  <a:lnTo>
                    <a:pt x="0" y="1519417"/>
                  </a:lnTo>
                  <a:close/>
                </a:path>
              </a:pathLst>
            </a:custGeom>
            <a:solidFill>
              <a:srgbClr val="EFEEE9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1284780" cy="1519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109411" y="3094451"/>
            <a:ext cx="4878150" cy="5769038"/>
            <a:chOff x="0" y="0"/>
            <a:chExt cx="1284780" cy="151941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84780" cy="1519417"/>
            </a:xfrm>
            <a:custGeom>
              <a:avLst/>
              <a:gdLst/>
              <a:ahLst/>
              <a:cxnLst/>
              <a:rect l="l" t="t" r="r" b="b"/>
              <a:pathLst>
                <a:path w="1284780" h="1519417">
                  <a:moveTo>
                    <a:pt x="0" y="0"/>
                  </a:moveTo>
                  <a:lnTo>
                    <a:pt x="1284780" y="0"/>
                  </a:lnTo>
                  <a:lnTo>
                    <a:pt x="1284780" y="1519417"/>
                  </a:lnTo>
                  <a:lnTo>
                    <a:pt x="0" y="1519417"/>
                  </a:lnTo>
                  <a:close/>
                </a:path>
              </a:pathLst>
            </a:custGeom>
            <a:solidFill>
              <a:srgbClr val="EFEEE9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1284780" cy="1519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60642" y="3094451"/>
            <a:ext cx="4878150" cy="5769038"/>
            <a:chOff x="0" y="0"/>
            <a:chExt cx="1284780" cy="151941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84780" cy="1519417"/>
            </a:xfrm>
            <a:custGeom>
              <a:avLst/>
              <a:gdLst/>
              <a:ahLst/>
              <a:cxnLst/>
              <a:rect l="l" t="t" r="r" b="b"/>
              <a:pathLst>
                <a:path w="1284780" h="1519417">
                  <a:moveTo>
                    <a:pt x="0" y="0"/>
                  </a:moveTo>
                  <a:lnTo>
                    <a:pt x="1284780" y="0"/>
                  </a:lnTo>
                  <a:lnTo>
                    <a:pt x="1284780" y="1519417"/>
                  </a:lnTo>
                  <a:lnTo>
                    <a:pt x="0" y="1519417"/>
                  </a:lnTo>
                  <a:close/>
                </a:path>
              </a:pathLst>
            </a:custGeom>
            <a:solidFill>
              <a:srgbClr val="EFEEE9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0"/>
              <a:ext cx="1284780" cy="1519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557470" y="3692720"/>
            <a:ext cx="4460858" cy="53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90"/>
              </a:lnSpc>
              <a:spcBef>
                <a:spcPct val="0"/>
              </a:spcBef>
            </a:pPr>
            <a:r>
              <a:rPr lang="en-US" sz="3300" spc="48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APP MÓVIL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19396" y="4786914"/>
            <a:ext cx="3726319" cy="175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7879" lvl="1" indent="-218940" algn="l">
              <a:lnSpc>
                <a:spcPts val="2839"/>
              </a:lnSpc>
              <a:buFont typeface="Arial"/>
              <a:buChar char="•"/>
            </a:pPr>
            <a:r>
              <a:rPr lang="en-US" sz="2028" spc="44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Gesto discreto y rápido</a:t>
            </a:r>
          </a:p>
          <a:p>
            <a:pPr marL="437879" lvl="1" indent="-218940" algn="l">
              <a:lnSpc>
                <a:spcPts val="2839"/>
              </a:lnSpc>
              <a:buFont typeface="Arial"/>
              <a:buChar char="•"/>
            </a:pPr>
            <a:r>
              <a:rPr lang="en-US" sz="2028" spc="44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Contactos de confianza</a:t>
            </a:r>
          </a:p>
          <a:p>
            <a:pPr marL="437879" lvl="1" indent="-218940" algn="l">
              <a:lnSpc>
                <a:spcPts val="2839"/>
              </a:lnSpc>
              <a:buFont typeface="Arial"/>
              <a:buChar char="•"/>
            </a:pPr>
            <a:r>
              <a:rPr lang="en-US" sz="2028" spc="44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Modo acompañante (ver ruta en tiempo real)</a:t>
            </a:r>
          </a:p>
          <a:p>
            <a:pPr algn="l">
              <a:lnSpc>
                <a:spcPts val="2839"/>
              </a:lnSpc>
            </a:pPr>
            <a:endParaRPr lang="en-US" sz="2028" spc="44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920100" y="3692720"/>
            <a:ext cx="4460858" cy="53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90"/>
              </a:lnSpc>
              <a:spcBef>
                <a:spcPct val="0"/>
              </a:spcBef>
            </a:pPr>
            <a:r>
              <a:rPr lang="en-US" sz="3300" spc="48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ACCESORIO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282026" y="4786914"/>
            <a:ext cx="3726319" cy="105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7879" lvl="1" indent="-218940" algn="l">
              <a:lnSpc>
                <a:spcPts val="2839"/>
              </a:lnSpc>
              <a:buFont typeface="Arial"/>
              <a:buChar char="•"/>
            </a:pPr>
            <a:r>
              <a:rPr lang="en-US" sz="2028" spc="44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Botón de pánico</a:t>
            </a:r>
          </a:p>
          <a:p>
            <a:pPr marL="437879" lvl="1" indent="-218940" algn="l">
              <a:lnSpc>
                <a:spcPts val="2839"/>
              </a:lnSpc>
              <a:buFont typeface="Arial"/>
              <a:buChar char="•"/>
            </a:pPr>
            <a:r>
              <a:rPr lang="en-US" sz="2028" spc="44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Geolocalización</a:t>
            </a:r>
          </a:p>
          <a:p>
            <a:pPr algn="l">
              <a:lnSpc>
                <a:spcPts val="2839"/>
              </a:lnSpc>
            </a:pPr>
            <a:endParaRPr lang="en-US" sz="2028" spc="44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7387" y="3421257"/>
            <a:ext cx="4460858" cy="1082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90"/>
              </a:lnSpc>
            </a:pPr>
            <a:r>
              <a:rPr lang="en-US" sz="3300" spc="48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BACK-END</a:t>
            </a:r>
          </a:p>
          <a:p>
            <a:pPr marL="0" lvl="0" indent="0" algn="ctr">
              <a:lnSpc>
                <a:spcPts val="4290"/>
              </a:lnSpc>
              <a:spcBef>
                <a:spcPct val="0"/>
              </a:spcBef>
            </a:pPr>
            <a:r>
              <a:rPr lang="en-US" sz="3300" spc="48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AUTORIDADES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644656" y="4786914"/>
            <a:ext cx="3726319" cy="1405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7879" lvl="1" indent="-218940" algn="l">
              <a:lnSpc>
                <a:spcPts val="2839"/>
              </a:lnSpc>
              <a:buFont typeface="Arial"/>
              <a:buChar char="•"/>
            </a:pPr>
            <a:r>
              <a:rPr lang="en-US" sz="2028" spc="44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Alertas tiempo real </a:t>
            </a:r>
          </a:p>
          <a:p>
            <a:pPr marL="437879" lvl="1" indent="-218940" algn="l">
              <a:lnSpc>
                <a:spcPts val="2839"/>
              </a:lnSpc>
              <a:buFont typeface="Arial"/>
              <a:buChar char="•"/>
            </a:pPr>
            <a:r>
              <a:rPr lang="en-US" sz="2028" spc="44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Contacto a autoridades cercanas</a:t>
            </a:r>
          </a:p>
          <a:p>
            <a:pPr algn="l">
              <a:lnSpc>
                <a:spcPts val="2839"/>
              </a:lnSpc>
            </a:pPr>
            <a:endParaRPr lang="en-US" sz="2028" spc="44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11302136" y="494670"/>
            <a:ext cx="7477630" cy="195786"/>
            <a:chOff x="0" y="0"/>
            <a:chExt cx="13077961" cy="3424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3077961" cy="342419"/>
            </a:xfrm>
            <a:custGeom>
              <a:avLst/>
              <a:gdLst/>
              <a:ahLst/>
              <a:cxnLst/>
              <a:rect l="l" t="t" r="r" b="b"/>
              <a:pathLst>
                <a:path w="13077961" h="342419">
                  <a:moveTo>
                    <a:pt x="12874761" y="0"/>
                  </a:moveTo>
                  <a:cubicBezTo>
                    <a:pt x="12986986" y="0"/>
                    <a:pt x="13077961" y="76653"/>
                    <a:pt x="13077961" y="171210"/>
                  </a:cubicBezTo>
                  <a:cubicBezTo>
                    <a:pt x="13077961" y="265766"/>
                    <a:pt x="12986986" y="342419"/>
                    <a:pt x="12874761" y="342419"/>
                  </a:cubicBezTo>
                  <a:lnTo>
                    <a:pt x="203200" y="342419"/>
                  </a:lnTo>
                  <a:cubicBezTo>
                    <a:pt x="90976" y="342419"/>
                    <a:pt x="0" y="265766"/>
                    <a:pt x="0" y="171210"/>
                  </a:cubicBezTo>
                  <a:cubicBezTo>
                    <a:pt x="0" y="76653"/>
                    <a:pt x="90976" y="0"/>
                    <a:pt x="203200" y="0"/>
                  </a:cubicBezTo>
                  <a:lnTo>
                    <a:pt x="12874761" y="0"/>
                  </a:lnTo>
                  <a:close/>
                </a:path>
              </a:pathLst>
            </a:custGeom>
            <a:gradFill rotWithShape="1">
              <a:gsLst>
                <a:gs pos="0">
                  <a:srgbClr val="519A9E">
                    <a:alpha val="100000"/>
                  </a:srgbClr>
                </a:gs>
                <a:gs pos="100000">
                  <a:srgbClr val="CC6DB3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13077961" cy="342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 rot="-5400000">
            <a:off x="13894603" y="2531462"/>
            <a:ext cx="7477630" cy="195786"/>
            <a:chOff x="0" y="0"/>
            <a:chExt cx="13077961" cy="3424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3077961" cy="342419"/>
            </a:xfrm>
            <a:custGeom>
              <a:avLst/>
              <a:gdLst/>
              <a:ahLst/>
              <a:cxnLst/>
              <a:rect l="l" t="t" r="r" b="b"/>
              <a:pathLst>
                <a:path w="13077961" h="342419">
                  <a:moveTo>
                    <a:pt x="12874761" y="0"/>
                  </a:moveTo>
                  <a:cubicBezTo>
                    <a:pt x="12986986" y="0"/>
                    <a:pt x="13077961" y="76653"/>
                    <a:pt x="13077961" y="171210"/>
                  </a:cubicBezTo>
                  <a:cubicBezTo>
                    <a:pt x="13077961" y="265766"/>
                    <a:pt x="12986986" y="342419"/>
                    <a:pt x="12874761" y="342419"/>
                  </a:cubicBezTo>
                  <a:lnTo>
                    <a:pt x="203200" y="342419"/>
                  </a:lnTo>
                  <a:cubicBezTo>
                    <a:pt x="90976" y="342419"/>
                    <a:pt x="0" y="265766"/>
                    <a:pt x="0" y="171210"/>
                  </a:cubicBezTo>
                  <a:cubicBezTo>
                    <a:pt x="0" y="76653"/>
                    <a:pt x="90976" y="0"/>
                    <a:pt x="203200" y="0"/>
                  </a:cubicBezTo>
                  <a:lnTo>
                    <a:pt x="12874761" y="0"/>
                  </a:lnTo>
                  <a:close/>
                </a:path>
              </a:pathLst>
            </a:custGeom>
            <a:gradFill rotWithShape="1">
              <a:gsLst>
                <a:gs pos="0">
                  <a:srgbClr val="519A9E">
                    <a:alpha val="100000"/>
                  </a:srgbClr>
                </a:gs>
                <a:gs pos="100000">
                  <a:srgbClr val="CC6DB3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4" name="TextBox 24"/>
            <p:cNvSpPr txBox="1"/>
            <p:nvPr/>
          </p:nvSpPr>
          <p:spPr>
            <a:xfrm>
              <a:off x="0" y="0"/>
              <a:ext cx="13077961" cy="342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 rot="-10800000">
            <a:off x="-438960" y="9540175"/>
            <a:ext cx="7477630" cy="195786"/>
            <a:chOff x="0" y="0"/>
            <a:chExt cx="13077961" cy="3424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3077961" cy="342419"/>
            </a:xfrm>
            <a:custGeom>
              <a:avLst/>
              <a:gdLst/>
              <a:ahLst/>
              <a:cxnLst/>
              <a:rect l="l" t="t" r="r" b="b"/>
              <a:pathLst>
                <a:path w="13077961" h="342419">
                  <a:moveTo>
                    <a:pt x="12874761" y="0"/>
                  </a:moveTo>
                  <a:cubicBezTo>
                    <a:pt x="12986986" y="0"/>
                    <a:pt x="13077961" y="76653"/>
                    <a:pt x="13077961" y="171210"/>
                  </a:cubicBezTo>
                  <a:cubicBezTo>
                    <a:pt x="13077961" y="265766"/>
                    <a:pt x="12986986" y="342419"/>
                    <a:pt x="12874761" y="342419"/>
                  </a:cubicBezTo>
                  <a:lnTo>
                    <a:pt x="203200" y="342419"/>
                  </a:lnTo>
                  <a:cubicBezTo>
                    <a:pt x="90976" y="342419"/>
                    <a:pt x="0" y="265766"/>
                    <a:pt x="0" y="171210"/>
                  </a:cubicBezTo>
                  <a:cubicBezTo>
                    <a:pt x="0" y="76653"/>
                    <a:pt x="90976" y="0"/>
                    <a:pt x="203200" y="0"/>
                  </a:cubicBezTo>
                  <a:lnTo>
                    <a:pt x="12874761" y="0"/>
                  </a:lnTo>
                  <a:close/>
                </a:path>
              </a:pathLst>
            </a:custGeom>
            <a:gradFill rotWithShape="1">
              <a:gsLst>
                <a:gs pos="0">
                  <a:srgbClr val="519A9E">
                    <a:alpha val="100000"/>
                  </a:srgbClr>
                </a:gs>
                <a:gs pos="100000">
                  <a:srgbClr val="CC6DB3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7" name="TextBox 27"/>
            <p:cNvSpPr txBox="1"/>
            <p:nvPr/>
          </p:nvSpPr>
          <p:spPr>
            <a:xfrm>
              <a:off x="0" y="0"/>
              <a:ext cx="13077961" cy="342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 rot="5400000">
            <a:off x="-3031428" y="7503383"/>
            <a:ext cx="7477630" cy="195786"/>
            <a:chOff x="0" y="0"/>
            <a:chExt cx="13077961" cy="3424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3077961" cy="342419"/>
            </a:xfrm>
            <a:custGeom>
              <a:avLst/>
              <a:gdLst/>
              <a:ahLst/>
              <a:cxnLst/>
              <a:rect l="l" t="t" r="r" b="b"/>
              <a:pathLst>
                <a:path w="13077961" h="342419">
                  <a:moveTo>
                    <a:pt x="12874761" y="0"/>
                  </a:moveTo>
                  <a:cubicBezTo>
                    <a:pt x="12986986" y="0"/>
                    <a:pt x="13077961" y="76653"/>
                    <a:pt x="13077961" y="171210"/>
                  </a:cubicBezTo>
                  <a:cubicBezTo>
                    <a:pt x="13077961" y="265766"/>
                    <a:pt x="12986986" y="342419"/>
                    <a:pt x="12874761" y="342419"/>
                  </a:cubicBezTo>
                  <a:lnTo>
                    <a:pt x="203200" y="342419"/>
                  </a:lnTo>
                  <a:cubicBezTo>
                    <a:pt x="90976" y="342419"/>
                    <a:pt x="0" y="265766"/>
                    <a:pt x="0" y="171210"/>
                  </a:cubicBezTo>
                  <a:cubicBezTo>
                    <a:pt x="0" y="76653"/>
                    <a:pt x="90976" y="0"/>
                    <a:pt x="203200" y="0"/>
                  </a:cubicBezTo>
                  <a:lnTo>
                    <a:pt x="12874761" y="0"/>
                  </a:lnTo>
                  <a:close/>
                </a:path>
              </a:pathLst>
            </a:custGeom>
            <a:gradFill rotWithShape="1">
              <a:gsLst>
                <a:gs pos="0">
                  <a:srgbClr val="519A9E">
                    <a:alpha val="100000"/>
                  </a:srgbClr>
                </a:gs>
                <a:gs pos="100000">
                  <a:srgbClr val="CC6DB3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30" name="TextBox 30"/>
            <p:cNvSpPr txBox="1"/>
            <p:nvPr/>
          </p:nvSpPr>
          <p:spPr>
            <a:xfrm>
              <a:off x="0" y="0"/>
              <a:ext cx="13077961" cy="342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92217" y="8293384"/>
            <a:ext cx="19837040" cy="9461966"/>
          </a:xfrm>
          <a:custGeom>
            <a:avLst/>
            <a:gdLst/>
            <a:ahLst/>
            <a:cxnLst/>
            <a:rect l="l" t="t" r="r" b="b"/>
            <a:pathLst>
              <a:path w="19837040" h="9461966">
                <a:moveTo>
                  <a:pt x="0" y="0"/>
                </a:moveTo>
                <a:lnTo>
                  <a:pt x="19837039" y="0"/>
                </a:lnTo>
                <a:lnTo>
                  <a:pt x="19837039" y="9461966"/>
                </a:lnTo>
                <a:lnTo>
                  <a:pt x="0" y="9461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7503" r="-2413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192315" y="612415"/>
            <a:ext cx="559181" cy="296366"/>
          </a:xfrm>
          <a:custGeom>
            <a:avLst/>
            <a:gdLst/>
            <a:ahLst/>
            <a:cxnLst/>
            <a:rect l="l" t="t" r="r" b="b"/>
            <a:pathLst>
              <a:path w="559181" h="296366">
                <a:moveTo>
                  <a:pt x="0" y="0"/>
                </a:moveTo>
                <a:lnTo>
                  <a:pt x="559182" y="0"/>
                </a:lnTo>
                <a:lnTo>
                  <a:pt x="559182" y="296366"/>
                </a:lnTo>
                <a:lnTo>
                  <a:pt x="0" y="2963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843309" y="1268486"/>
            <a:ext cx="6873872" cy="162473"/>
          </a:xfrm>
          <a:custGeom>
            <a:avLst/>
            <a:gdLst/>
            <a:ahLst/>
            <a:cxnLst/>
            <a:rect l="l" t="t" r="r" b="b"/>
            <a:pathLst>
              <a:path w="6873872" h="162473">
                <a:moveTo>
                  <a:pt x="0" y="0"/>
                </a:moveTo>
                <a:lnTo>
                  <a:pt x="6873873" y="0"/>
                </a:lnTo>
                <a:lnTo>
                  <a:pt x="6873873" y="162473"/>
                </a:lnTo>
                <a:lnTo>
                  <a:pt x="0" y="162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803216" y="2722986"/>
            <a:ext cx="14647497" cy="346214"/>
          </a:xfrm>
          <a:custGeom>
            <a:avLst/>
            <a:gdLst/>
            <a:ahLst/>
            <a:cxnLst/>
            <a:rect l="l" t="t" r="r" b="b"/>
            <a:pathLst>
              <a:path w="14647497" h="346214">
                <a:moveTo>
                  <a:pt x="0" y="0"/>
                </a:moveTo>
                <a:lnTo>
                  <a:pt x="14647497" y="0"/>
                </a:lnTo>
                <a:lnTo>
                  <a:pt x="14647497" y="346214"/>
                </a:lnTo>
                <a:lnTo>
                  <a:pt x="0" y="3462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1592884"/>
            <a:ext cx="16230600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Metodología, Plan y Roles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45756" y="3262653"/>
            <a:ext cx="999648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Se utlizará metodologías ágiles en el marco de Scrum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4224678"/>
            <a:ext cx="6518970" cy="2124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Bastian Trostel: Product Owner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Ronald Bruno: Scrum Master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Tomás Perez: Scrum Developer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Cristofer Zapata: Scrum Developer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6759094"/>
            <a:ext cx="15673514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Se harán uso de los artefactos Scrum, tales como Sprints,  Daily Meetings, Sprints Reviews, entre otros.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92217" y="8293384"/>
            <a:ext cx="19837040" cy="9461966"/>
          </a:xfrm>
          <a:custGeom>
            <a:avLst/>
            <a:gdLst/>
            <a:ahLst/>
            <a:cxnLst/>
            <a:rect l="l" t="t" r="r" b="b"/>
            <a:pathLst>
              <a:path w="19837040" h="9461966">
                <a:moveTo>
                  <a:pt x="0" y="0"/>
                </a:moveTo>
                <a:lnTo>
                  <a:pt x="19837039" y="0"/>
                </a:lnTo>
                <a:lnTo>
                  <a:pt x="19837039" y="9461966"/>
                </a:lnTo>
                <a:lnTo>
                  <a:pt x="0" y="9461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7503" r="-2413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192315" y="612415"/>
            <a:ext cx="559181" cy="296366"/>
          </a:xfrm>
          <a:custGeom>
            <a:avLst/>
            <a:gdLst/>
            <a:ahLst/>
            <a:cxnLst/>
            <a:rect l="l" t="t" r="r" b="b"/>
            <a:pathLst>
              <a:path w="559181" h="296366">
                <a:moveTo>
                  <a:pt x="0" y="0"/>
                </a:moveTo>
                <a:lnTo>
                  <a:pt x="559182" y="0"/>
                </a:lnTo>
                <a:lnTo>
                  <a:pt x="559182" y="296366"/>
                </a:lnTo>
                <a:lnTo>
                  <a:pt x="0" y="2963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843309" y="1268486"/>
            <a:ext cx="6873872" cy="162473"/>
          </a:xfrm>
          <a:custGeom>
            <a:avLst/>
            <a:gdLst/>
            <a:ahLst/>
            <a:cxnLst/>
            <a:rect l="l" t="t" r="r" b="b"/>
            <a:pathLst>
              <a:path w="6873872" h="162473">
                <a:moveTo>
                  <a:pt x="0" y="0"/>
                </a:moveTo>
                <a:lnTo>
                  <a:pt x="6873873" y="0"/>
                </a:lnTo>
                <a:lnTo>
                  <a:pt x="6873873" y="162473"/>
                </a:lnTo>
                <a:lnTo>
                  <a:pt x="0" y="162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803216" y="2722986"/>
            <a:ext cx="14647497" cy="346214"/>
          </a:xfrm>
          <a:custGeom>
            <a:avLst/>
            <a:gdLst/>
            <a:ahLst/>
            <a:cxnLst/>
            <a:rect l="l" t="t" r="r" b="b"/>
            <a:pathLst>
              <a:path w="14647497" h="346214">
                <a:moveTo>
                  <a:pt x="0" y="0"/>
                </a:moveTo>
                <a:lnTo>
                  <a:pt x="14647497" y="0"/>
                </a:lnTo>
                <a:lnTo>
                  <a:pt x="14647497" y="346214"/>
                </a:lnTo>
                <a:lnTo>
                  <a:pt x="0" y="3462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355761" y="3193025"/>
            <a:ext cx="11941084" cy="6553603"/>
          </a:xfrm>
          <a:custGeom>
            <a:avLst/>
            <a:gdLst/>
            <a:ahLst/>
            <a:cxnLst/>
            <a:rect l="l" t="t" r="r" b="b"/>
            <a:pathLst>
              <a:path w="11941084" h="6553603">
                <a:moveTo>
                  <a:pt x="0" y="0"/>
                </a:moveTo>
                <a:lnTo>
                  <a:pt x="11941083" y="0"/>
                </a:lnTo>
                <a:lnTo>
                  <a:pt x="11941083" y="6553602"/>
                </a:lnTo>
                <a:lnTo>
                  <a:pt x="0" y="655360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1567385"/>
            <a:ext cx="16230600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Arquitectura MVVM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92217" y="8293384"/>
            <a:ext cx="19837040" cy="9461966"/>
          </a:xfrm>
          <a:custGeom>
            <a:avLst/>
            <a:gdLst/>
            <a:ahLst/>
            <a:cxnLst/>
            <a:rect l="l" t="t" r="r" b="b"/>
            <a:pathLst>
              <a:path w="19837040" h="9461966">
                <a:moveTo>
                  <a:pt x="0" y="0"/>
                </a:moveTo>
                <a:lnTo>
                  <a:pt x="19837039" y="0"/>
                </a:lnTo>
                <a:lnTo>
                  <a:pt x="19837039" y="9461966"/>
                </a:lnTo>
                <a:lnTo>
                  <a:pt x="0" y="9461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7503" r="-2413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192315" y="612415"/>
            <a:ext cx="559181" cy="296366"/>
          </a:xfrm>
          <a:custGeom>
            <a:avLst/>
            <a:gdLst/>
            <a:ahLst/>
            <a:cxnLst/>
            <a:rect l="l" t="t" r="r" b="b"/>
            <a:pathLst>
              <a:path w="559181" h="296366">
                <a:moveTo>
                  <a:pt x="0" y="0"/>
                </a:moveTo>
                <a:lnTo>
                  <a:pt x="559182" y="0"/>
                </a:lnTo>
                <a:lnTo>
                  <a:pt x="559182" y="296366"/>
                </a:lnTo>
                <a:lnTo>
                  <a:pt x="0" y="2963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843309" y="1268486"/>
            <a:ext cx="6873872" cy="162473"/>
          </a:xfrm>
          <a:custGeom>
            <a:avLst/>
            <a:gdLst/>
            <a:ahLst/>
            <a:cxnLst/>
            <a:rect l="l" t="t" r="r" b="b"/>
            <a:pathLst>
              <a:path w="6873872" h="162473">
                <a:moveTo>
                  <a:pt x="0" y="0"/>
                </a:moveTo>
                <a:lnTo>
                  <a:pt x="6873873" y="0"/>
                </a:lnTo>
                <a:lnTo>
                  <a:pt x="6873873" y="162473"/>
                </a:lnTo>
                <a:lnTo>
                  <a:pt x="0" y="162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803216" y="2722986"/>
            <a:ext cx="14647497" cy="346214"/>
          </a:xfrm>
          <a:custGeom>
            <a:avLst/>
            <a:gdLst/>
            <a:ahLst/>
            <a:cxnLst/>
            <a:rect l="l" t="t" r="r" b="b"/>
            <a:pathLst>
              <a:path w="14647497" h="346214">
                <a:moveTo>
                  <a:pt x="0" y="0"/>
                </a:moveTo>
                <a:lnTo>
                  <a:pt x="14647497" y="0"/>
                </a:lnTo>
                <a:lnTo>
                  <a:pt x="14647497" y="346214"/>
                </a:lnTo>
                <a:lnTo>
                  <a:pt x="0" y="3462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584850" y="3069200"/>
            <a:ext cx="13084230" cy="6411273"/>
          </a:xfrm>
          <a:custGeom>
            <a:avLst/>
            <a:gdLst/>
            <a:ahLst/>
            <a:cxnLst/>
            <a:rect l="l" t="t" r="r" b="b"/>
            <a:pathLst>
              <a:path w="13084230" h="6411273">
                <a:moveTo>
                  <a:pt x="0" y="0"/>
                </a:moveTo>
                <a:lnTo>
                  <a:pt x="13084230" y="0"/>
                </a:lnTo>
                <a:lnTo>
                  <a:pt x="13084230" y="6411272"/>
                </a:lnTo>
                <a:lnTo>
                  <a:pt x="0" y="64112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1592884"/>
            <a:ext cx="16230600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Herramientas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016149">
            <a:off x="10926562" y="7421726"/>
            <a:ext cx="9618404" cy="4587832"/>
          </a:xfrm>
          <a:custGeom>
            <a:avLst/>
            <a:gdLst/>
            <a:ahLst/>
            <a:cxnLst/>
            <a:rect l="l" t="t" r="r" b="b"/>
            <a:pathLst>
              <a:path w="9618404" h="4587832">
                <a:moveTo>
                  <a:pt x="0" y="0"/>
                </a:moveTo>
                <a:lnTo>
                  <a:pt x="9618404" y="0"/>
                </a:lnTo>
                <a:lnTo>
                  <a:pt x="9618404" y="4587832"/>
                </a:lnTo>
                <a:lnTo>
                  <a:pt x="0" y="45878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7503" r="-2413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192315" y="612415"/>
            <a:ext cx="559181" cy="296366"/>
          </a:xfrm>
          <a:custGeom>
            <a:avLst/>
            <a:gdLst/>
            <a:ahLst/>
            <a:cxnLst/>
            <a:rect l="l" t="t" r="r" b="b"/>
            <a:pathLst>
              <a:path w="559181" h="296366">
                <a:moveTo>
                  <a:pt x="0" y="0"/>
                </a:moveTo>
                <a:lnTo>
                  <a:pt x="559182" y="0"/>
                </a:lnTo>
                <a:lnTo>
                  <a:pt x="559182" y="296366"/>
                </a:lnTo>
                <a:lnTo>
                  <a:pt x="0" y="2963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843309" y="1268486"/>
            <a:ext cx="6873872" cy="162473"/>
          </a:xfrm>
          <a:custGeom>
            <a:avLst/>
            <a:gdLst/>
            <a:ahLst/>
            <a:cxnLst/>
            <a:rect l="l" t="t" r="r" b="b"/>
            <a:pathLst>
              <a:path w="6873872" h="162473">
                <a:moveTo>
                  <a:pt x="0" y="0"/>
                </a:moveTo>
                <a:lnTo>
                  <a:pt x="6873873" y="0"/>
                </a:lnTo>
                <a:lnTo>
                  <a:pt x="6873873" y="162473"/>
                </a:lnTo>
                <a:lnTo>
                  <a:pt x="0" y="162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803216" y="2722986"/>
            <a:ext cx="14647497" cy="346214"/>
          </a:xfrm>
          <a:custGeom>
            <a:avLst/>
            <a:gdLst/>
            <a:ahLst/>
            <a:cxnLst/>
            <a:rect l="l" t="t" r="r" b="b"/>
            <a:pathLst>
              <a:path w="14647497" h="346214">
                <a:moveTo>
                  <a:pt x="0" y="0"/>
                </a:moveTo>
                <a:lnTo>
                  <a:pt x="14647497" y="0"/>
                </a:lnTo>
                <a:lnTo>
                  <a:pt x="14647497" y="346214"/>
                </a:lnTo>
                <a:lnTo>
                  <a:pt x="0" y="3462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1592884"/>
            <a:ext cx="16230600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Competencias</a:t>
            </a:r>
          </a:p>
        </p:txBody>
      </p:sp>
      <p:sp>
        <p:nvSpPr>
          <p:cNvPr id="8" name="Freeform 8"/>
          <p:cNvSpPr/>
          <p:nvPr/>
        </p:nvSpPr>
        <p:spPr>
          <a:xfrm>
            <a:off x="1803216" y="3669810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099" y="0"/>
                </a:lnTo>
                <a:lnTo>
                  <a:pt x="4491099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2320667" y="3799708"/>
            <a:ext cx="3456197" cy="115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27"/>
              </a:lnSpc>
            </a:pPr>
            <a:r>
              <a:rPr lang="en-US" sz="2587" spc="18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Diseñar y generar soluciones de software</a:t>
            </a:r>
          </a:p>
        </p:txBody>
      </p:sp>
      <p:sp>
        <p:nvSpPr>
          <p:cNvPr id="10" name="Freeform 10"/>
          <p:cNvSpPr/>
          <p:nvPr/>
        </p:nvSpPr>
        <p:spPr>
          <a:xfrm>
            <a:off x="7008073" y="3669810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099" y="0"/>
                </a:lnTo>
                <a:lnTo>
                  <a:pt x="4491099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7592685" y="3990208"/>
            <a:ext cx="3456197" cy="771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27"/>
              </a:lnSpc>
            </a:pPr>
            <a:r>
              <a:rPr lang="en-US" sz="2587" spc="18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Arquitectura de Software</a:t>
            </a:r>
          </a:p>
        </p:txBody>
      </p:sp>
      <p:sp>
        <p:nvSpPr>
          <p:cNvPr id="12" name="Freeform 12"/>
          <p:cNvSpPr/>
          <p:nvPr/>
        </p:nvSpPr>
        <p:spPr>
          <a:xfrm>
            <a:off x="12212930" y="3669810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099" y="0"/>
                </a:lnTo>
                <a:lnTo>
                  <a:pt x="4491099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2730381" y="4119220"/>
            <a:ext cx="3456197" cy="390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27"/>
              </a:lnSpc>
            </a:pPr>
            <a:r>
              <a:rPr lang="en-US" sz="2587" spc="18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Gestión de proyectos</a:t>
            </a:r>
          </a:p>
        </p:txBody>
      </p:sp>
      <p:sp>
        <p:nvSpPr>
          <p:cNvPr id="14" name="Freeform 14"/>
          <p:cNvSpPr/>
          <p:nvPr/>
        </p:nvSpPr>
        <p:spPr>
          <a:xfrm>
            <a:off x="4115927" y="6130215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099" y="0"/>
                </a:lnTo>
                <a:lnTo>
                  <a:pt x="4491099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4633378" y="6450613"/>
            <a:ext cx="3456197" cy="771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27"/>
              </a:lnSpc>
            </a:pPr>
            <a:r>
              <a:rPr lang="en-US" sz="2587" spc="18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Integración de plataformas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0034541" y="6130215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100" y="0"/>
                </a:lnTo>
                <a:lnTo>
                  <a:pt x="4491100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0551993" y="6560229"/>
            <a:ext cx="3456197" cy="390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27"/>
              </a:lnSpc>
            </a:pPr>
            <a:r>
              <a:rPr lang="en-US" sz="2587" spc="18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Calidad y Testing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92217" y="8293384"/>
            <a:ext cx="19837040" cy="9461966"/>
          </a:xfrm>
          <a:custGeom>
            <a:avLst/>
            <a:gdLst/>
            <a:ahLst/>
            <a:cxnLst/>
            <a:rect l="l" t="t" r="r" b="b"/>
            <a:pathLst>
              <a:path w="19837040" h="9461966">
                <a:moveTo>
                  <a:pt x="0" y="0"/>
                </a:moveTo>
                <a:lnTo>
                  <a:pt x="19837039" y="0"/>
                </a:lnTo>
                <a:lnTo>
                  <a:pt x="19837039" y="9461966"/>
                </a:lnTo>
                <a:lnTo>
                  <a:pt x="0" y="9461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7503" r="-2413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192315" y="612415"/>
            <a:ext cx="559181" cy="296366"/>
          </a:xfrm>
          <a:custGeom>
            <a:avLst/>
            <a:gdLst/>
            <a:ahLst/>
            <a:cxnLst/>
            <a:rect l="l" t="t" r="r" b="b"/>
            <a:pathLst>
              <a:path w="559181" h="296366">
                <a:moveTo>
                  <a:pt x="0" y="0"/>
                </a:moveTo>
                <a:lnTo>
                  <a:pt x="559182" y="0"/>
                </a:lnTo>
                <a:lnTo>
                  <a:pt x="559182" y="296366"/>
                </a:lnTo>
                <a:lnTo>
                  <a:pt x="0" y="2963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843309" y="1268486"/>
            <a:ext cx="6873872" cy="162473"/>
          </a:xfrm>
          <a:custGeom>
            <a:avLst/>
            <a:gdLst/>
            <a:ahLst/>
            <a:cxnLst/>
            <a:rect l="l" t="t" r="r" b="b"/>
            <a:pathLst>
              <a:path w="6873872" h="162473">
                <a:moveTo>
                  <a:pt x="0" y="0"/>
                </a:moveTo>
                <a:lnTo>
                  <a:pt x="6873873" y="0"/>
                </a:lnTo>
                <a:lnTo>
                  <a:pt x="6873873" y="162473"/>
                </a:lnTo>
                <a:lnTo>
                  <a:pt x="0" y="162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890393"/>
              </p:ext>
            </p:extLst>
          </p:nvPr>
        </p:nvGraphicFramePr>
        <p:xfrm>
          <a:off x="1296000" y="1656003"/>
          <a:ext cx="16306200" cy="7820131"/>
        </p:xfrm>
        <a:graphic>
          <a:graphicData uri="http://schemas.openxmlformats.org/drawingml/2006/table">
            <a:tbl>
              <a:tblPr/>
              <a:tblGrid>
                <a:gridCol w="1551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48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2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71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268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dirty="0" err="1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Descripción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C5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NPR</a:t>
                      </a:r>
                      <a:endParaRPr lang="en-US" sz="1100" dirty="0"/>
                    </a:p>
                  </a:txBody>
                  <a:tcPr marL="190500" marR="1440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C5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Responsable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C5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ID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C5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Plan de respuesta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C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548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Bloqueo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procesos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segundo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plano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: El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sistema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operativo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finaliza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la app,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impidiendo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uso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sensores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54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Tomás Pérez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RG4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Desarrollar un servicio "Foreground" (notificación persistente) en la arquitectura móvil y guiar al usuario en la instalación para que desactive la "optimización de batería" manualmente.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548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Privacidad de Datos Normativa: Incumplimiento de protección al procesar geolocalización en tiempo real.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54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Bastián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Trostel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RG6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Redactar y forzar la aceptación de Términos y Condiciones explícitos (EULA). Programar el sistema para que borre permanentemente el registro de ubicación tras desactivar la emergencia.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548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Rechazo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Tiendas de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Aplicaciones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: Google Play/App Store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rechazan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la app por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políticas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SMS o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rastreo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54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Bastián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Trostel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RG13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Leer los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lineamientos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revisión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. Al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subir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la app,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enviar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un video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demostrativo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a los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revisores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Google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justificando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que la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ubicación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fondo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es para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uso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seguridad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vital.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300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Cambios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políticas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Carabineros: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Bloqueo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bots o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cambio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del canal de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recepción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54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Bastián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Trostel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RG14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Eliminar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la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dependencia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un canal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inestable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.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Contactar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a la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municipalidad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o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sistemas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como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"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Sosafe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" para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integrarse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mediante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APIs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oficiales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,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lugar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depender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de bots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dirigidos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a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entidades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que no los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admiten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1028700" y="577727"/>
            <a:ext cx="16230600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 dirty="0" err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Riesgos</a:t>
            </a:r>
            <a:endParaRPr lang="en-US" sz="6600" b="1" dirty="0">
              <a:solidFill>
                <a:srgbClr val="FFFFFF"/>
              </a:solidFill>
              <a:latin typeface="Raleway Bold"/>
              <a:ea typeface="Raleway Bold"/>
              <a:cs typeface="Raleway Bold"/>
              <a:sym typeface="Raleway 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843309" y="1268486"/>
            <a:ext cx="6873872" cy="162473"/>
          </a:xfrm>
          <a:custGeom>
            <a:avLst/>
            <a:gdLst/>
            <a:ahLst/>
            <a:cxnLst/>
            <a:rect l="l" t="t" r="r" b="b"/>
            <a:pathLst>
              <a:path w="6873872" h="162473">
                <a:moveTo>
                  <a:pt x="0" y="0"/>
                </a:moveTo>
                <a:lnTo>
                  <a:pt x="6873873" y="0"/>
                </a:lnTo>
                <a:lnTo>
                  <a:pt x="6873873" y="162473"/>
                </a:lnTo>
                <a:lnTo>
                  <a:pt x="0" y="16247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3071710">
            <a:off x="13831431" y="-5908685"/>
            <a:ext cx="12084486" cy="10471825"/>
          </a:xfrm>
          <a:custGeom>
            <a:avLst/>
            <a:gdLst/>
            <a:ahLst/>
            <a:cxnLst/>
            <a:rect l="l" t="t" r="r" b="b"/>
            <a:pathLst>
              <a:path w="12084486" h="10471825">
                <a:moveTo>
                  <a:pt x="0" y="0"/>
                </a:moveTo>
                <a:lnTo>
                  <a:pt x="12084486" y="0"/>
                </a:lnTo>
                <a:lnTo>
                  <a:pt x="12084486" y="10471825"/>
                </a:lnTo>
                <a:lnTo>
                  <a:pt x="0" y="104718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3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7758248">
            <a:off x="-2100465" y="9396532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7758248">
            <a:off x="-3024415" y="9839307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2"/>
                </a:lnTo>
                <a:lnTo>
                  <a:pt x="0" y="1754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695348"/>
            <a:ext cx="16230600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Seguridad</a:t>
            </a:r>
          </a:p>
        </p:txBody>
      </p:sp>
      <p:sp>
        <p:nvSpPr>
          <p:cNvPr id="8" name="Freeform 8"/>
          <p:cNvSpPr/>
          <p:nvPr/>
        </p:nvSpPr>
        <p:spPr>
          <a:xfrm>
            <a:off x="2431647" y="2264292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099" y="0"/>
                </a:lnTo>
                <a:lnTo>
                  <a:pt x="4491099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2539977" y="3900683"/>
            <a:ext cx="4541061" cy="1822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lang="en-US" sz="1750" spc="38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Solicitar permiso claro al usuario para acceder al micrófono y al GPS en segundo plano</a:t>
            </a:r>
          </a:p>
          <a:p>
            <a:pPr algn="l">
              <a:lnSpc>
                <a:spcPts val="2450"/>
              </a:lnSpc>
            </a:pPr>
            <a:r>
              <a:rPr lang="en-US" sz="1750" spc="38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Asegurar que el manejo de datos respeta la Ley 19.628 de protección de datos en Chile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49099" y="2259697"/>
            <a:ext cx="3456197" cy="13646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587" spc="38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PRIVACIDAD Y CUMPLIMIENTO NORMATIVO</a:t>
            </a:r>
          </a:p>
        </p:txBody>
      </p:sp>
      <p:sp>
        <p:nvSpPr>
          <p:cNvPr id="11" name="Freeform 11"/>
          <p:cNvSpPr/>
          <p:nvPr/>
        </p:nvSpPr>
        <p:spPr>
          <a:xfrm>
            <a:off x="11193930" y="2316847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099" y="0"/>
                </a:lnTo>
                <a:lnTo>
                  <a:pt x="4491099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1315291" y="4053083"/>
            <a:ext cx="4541061" cy="1517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lang="en-US" sz="1750" spc="38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El sistema solo debe rastrear y grabar cuando la emergencia es activada.</a:t>
            </a:r>
          </a:p>
          <a:p>
            <a:pPr algn="l">
              <a:lnSpc>
                <a:spcPts val="2450"/>
              </a:lnSpc>
            </a:pPr>
            <a:r>
              <a:rPr lang="en-US" sz="1750" spc="38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Eliminar o anonimizar los audios y registros de ubicación inmediatamente después de que se desactive la alerta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15291" y="2407807"/>
            <a:ext cx="4248376" cy="1120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53"/>
              </a:lnSpc>
              <a:spcBef>
                <a:spcPct val="0"/>
              </a:spcBef>
            </a:pPr>
            <a:r>
              <a:rPr lang="en-US" sz="3180" spc="46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RETENCIÓN DE INFORMACIÓN</a:t>
            </a:r>
          </a:p>
        </p:txBody>
      </p:sp>
      <p:sp>
        <p:nvSpPr>
          <p:cNvPr id="14" name="Freeform 14"/>
          <p:cNvSpPr/>
          <p:nvPr/>
        </p:nvSpPr>
        <p:spPr>
          <a:xfrm>
            <a:off x="2661338" y="6132694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099" y="0"/>
                </a:lnTo>
                <a:lnTo>
                  <a:pt x="4491099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2661338" y="7840624"/>
            <a:ext cx="4541061" cy="1822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lang="en-US" sz="1750" spc="38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Encriptar las coordenadas y audios tanto al enviarlos como al guardarlos en la base de datos.</a:t>
            </a:r>
          </a:p>
          <a:p>
            <a:pPr algn="l">
              <a:lnSpc>
                <a:spcPts val="2450"/>
              </a:lnSpc>
            </a:pPr>
            <a:r>
              <a:rPr lang="en-US" sz="1750" spc="38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El equipo de desarrollo no debe tener acceso libre a la información real de los usuarios en producción.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33490" y="6136855"/>
            <a:ext cx="3546795" cy="1408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17"/>
              </a:lnSpc>
              <a:spcBef>
                <a:spcPct val="0"/>
              </a:spcBef>
            </a:pPr>
            <a:r>
              <a:rPr lang="en-US" sz="2655" spc="39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SEGURIDAD Y CONTROL DE ACCESO</a:t>
            </a:r>
          </a:p>
        </p:txBody>
      </p:sp>
      <p:sp>
        <p:nvSpPr>
          <p:cNvPr id="17" name="Freeform 17"/>
          <p:cNvSpPr/>
          <p:nvPr/>
        </p:nvSpPr>
        <p:spPr>
          <a:xfrm>
            <a:off x="10976149" y="6132694"/>
            <a:ext cx="4491099" cy="1412655"/>
          </a:xfrm>
          <a:custGeom>
            <a:avLst/>
            <a:gdLst/>
            <a:ahLst/>
            <a:cxnLst/>
            <a:rect l="l" t="t" r="r" b="b"/>
            <a:pathLst>
              <a:path w="4491099" h="1412655">
                <a:moveTo>
                  <a:pt x="0" y="0"/>
                </a:moveTo>
                <a:lnTo>
                  <a:pt x="4491099" y="0"/>
                </a:lnTo>
                <a:lnTo>
                  <a:pt x="4491099" y="1412655"/>
                </a:lnTo>
                <a:lnTo>
                  <a:pt x="0" y="14126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1315291" y="7868291"/>
            <a:ext cx="4541061" cy="1822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lang="en-US" sz="1750" spc="38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Mantener un registro automático de cuándo se activaron las alertas y qué contactos fueron notificados.</a:t>
            </a:r>
          </a:p>
          <a:p>
            <a:pPr algn="l">
              <a:lnSpc>
                <a:spcPts val="2450"/>
              </a:lnSpc>
            </a:pPr>
            <a:r>
              <a:rPr lang="en-US" sz="1750" spc="38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Definir los pasos a seguir si ocurre una vulneración o filtración en los servicios de la nube.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315291" y="6318210"/>
            <a:ext cx="3982166" cy="1045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74"/>
              </a:lnSpc>
              <a:spcBef>
                <a:spcPct val="0"/>
              </a:spcBef>
            </a:pPr>
            <a:r>
              <a:rPr lang="en-US" sz="2981" spc="438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TRAZABILIDAD Y CONTROL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92217" y="8293384"/>
            <a:ext cx="19837040" cy="9461966"/>
          </a:xfrm>
          <a:custGeom>
            <a:avLst/>
            <a:gdLst/>
            <a:ahLst/>
            <a:cxnLst/>
            <a:rect l="l" t="t" r="r" b="b"/>
            <a:pathLst>
              <a:path w="19837040" h="9461966">
                <a:moveTo>
                  <a:pt x="0" y="0"/>
                </a:moveTo>
                <a:lnTo>
                  <a:pt x="19837039" y="0"/>
                </a:lnTo>
                <a:lnTo>
                  <a:pt x="19837039" y="9461966"/>
                </a:lnTo>
                <a:lnTo>
                  <a:pt x="0" y="9461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7503" r="-2413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192315" y="612415"/>
            <a:ext cx="559181" cy="296366"/>
          </a:xfrm>
          <a:custGeom>
            <a:avLst/>
            <a:gdLst/>
            <a:ahLst/>
            <a:cxnLst/>
            <a:rect l="l" t="t" r="r" b="b"/>
            <a:pathLst>
              <a:path w="559181" h="296366">
                <a:moveTo>
                  <a:pt x="0" y="0"/>
                </a:moveTo>
                <a:lnTo>
                  <a:pt x="559182" y="0"/>
                </a:lnTo>
                <a:lnTo>
                  <a:pt x="559182" y="296366"/>
                </a:lnTo>
                <a:lnTo>
                  <a:pt x="0" y="2963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843309" y="1268486"/>
            <a:ext cx="6873872" cy="162473"/>
          </a:xfrm>
          <a:custGeom>
            <a:avLst/>
            <a:gdLst/>
            <a:ahLst/>
            <a:cxnLst/>
            <a:rect l="l" t="t" r="r" b="b"/>
            <a:pathLst>
              <a:path w="6873872" h="162473">
                <a:moveTo>
                  <a:pt x="0" y="0"/>
                </a:moveTo>
                <a:lnTo>
                  <a:pt x="6873873" y="0"/>
                </a:lnTo>
                <a:lnTo>
                  <a:pt x="6873873" y="162473"/>
                </a:lnTo>
                <a:lnTo>
                  <a:pt x="0" y="162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308331" y="1268486"/>
            <a:ext cx="12235717" cy="8649123"/>
          </a:xfrm>
          <a:custGeom>
            <a:avLst/>
            <a:gdLst/>
            <a:ahLst/>
            <a:cxnLst/>
            <a:rect l="l" t="t" r="r" b="b"/>
            <a:pathLst>
              <a:path w="12235717" h="8649123">
                <a:moveTo>
                  <a:pt x="0" y="0"/>
                </a:moveTo>
                <a:lnTo>
                  <a:pt x="12235717" y="0"/>
                </a:lnTo>
                <a:lnTo>
                  <a:pt x="12235717" y="8649122"/>
                </a:lnTo>
                <a:lnTo>
                  <a:pt x="0" y="864912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57581" y="4133850"/>
            <a:ext cx="4935412" cy="200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Modelo de Negocio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843309" y="1268486"/>
            <a:ext cx="6873872" cy="162473"/>
          </a:xfrm>
          <a:custGeom>
            <a:avLst/>
            <a:gdLst/>
            <a:ahLst/>
            <a:cxnLst/>
            <a:rect l="l" t="t" r="r" b="b"/>
            <a:pathLst>
              <a:path w="6873872" h="162473">
                <a:moveTo>
                  <a:pt x="0" y="0"/>
                </a:moveTo>
                <a:lnTo>
                  <a:pt x="6873873" y="0"/>
                </a:lnTo>
                <a:lnTo>
                  <a:pt x="6873873" y="162473"/>
                </a:lnTo>
                <a:lnTo>
                  <a:pt x="0" y="16247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3071710">
            <a:off x="13831431" y="-5908685"/>
            <a:ext cx="12084486" cy="10471825"/>
          </a:xfrm>
          <a:custGeom>
            <a:avLst/>
            <a:gdLst/>
            <a:ahLst/>
            <a:cxnLst/>
            <a:rect l="l" t="t" r="r" b="b"/>
            <a:pathLst>
              <a:path w="12084486" h="10471825">
                <a:moveTo>
                  <a:pt x="0" y="0"/>
                </a:moveTo>
                <a:lnTo>
                  <a:pt x="12084486" y="0"/>
                </a:lnTo>
                <a:lnTo>
                  <a:pt x="12084486" y="10471825"/>
                </a:lnTo>
                <a:lnTo>
                  <a:pt x="0" y="104718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3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7758248">
            <a:off x="-2100465" y="9396532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7758248">
            <a:off x="-3024415" y="9839307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2"/>
                </a:lnTo>
                <a:lnTo>
                  <a:pt x="0" y="1754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803216" y="2722986"/>
            <a:ext cx="14647497" cy="346214"/>
          </a:xfrm>
          <a:custGeom>
            <a:avLst/>
            <a:gdLst/>
            <a:ahLst/>
            <a:cxnLst/>
            <a:rect l="l" t="t" r="r" b="b"/>
            <a:pathLst>
              <a:path w="14647497" h="346214">
                <a:moveTo>
                  <a:pt x="0" y="0"/>
                </a:moveTo>
                <a:lnTo>
                  <a:pt x="14647497" y="0"/>
                </a:lnTo>
                <a:lnTo>
                  <a:pt x="14647497" y="346214"/>
                </a:lnTo>
                <a:lnTo>
                  <a:pt x="0" y="3462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089320" y="3193025"/>
            <a:ext cx="10075289" cy="6716860"/>
          </a:xfrm>
          <a:custGeom>
            <a:avLst/>
            <a:gdLst/>
            <a:ahLst/>
            <a:cxnLst/>
            <a:rect l="l" t="t" r="r" b="b"/>
            <a:pathLst>
              <a:path w="10075289" h="6716860">
                <a:moveTo>
                  <a:pt x="0" y="0"/>
                </a:moveTo>
                <a:lnTo>
                  <a:pt x="10075289" y="0"/>
                </a:lnTo>
                <a:lnTo>
                  <a:pt x="10075289" y="6716859"/>
                </a:lnTo>
                <a:lnTo>
                  <a:pt x="0" y="671685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028700" y="1592884"/>
            <a:ext cx="16230600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0"/>
              </a:lnSpc>
              <a:spcBef>
                <a:spcPct val="0"/>
              </a:spcBef>
            </a:pPr>
            <a:r>
              <a:rPr lang="en-US" sz="6600" b="1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Mockups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00033" y="1202727"/>
            <a:ext cx="15422937" cy="7730827"/>
            <a:chOff x="0" y="0"/>
            <a:chExt cx="4220887" cy="2115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20887" cy="2115742"/>
            </a:xfrm>
            <a:custGeom>
              <a:avLst/>
              <a:gdLst/>
              <a:ahLst/>
              <a:cxnLst/>
              <a:rect l="l" t="t" r="r" b="b"/>
              <a:pathLst>
                <a:path w="4220887" h="2115742">
                  <a:moveTo>
                    <a:pt x="0" y="0"/>
                  </a:moveTo>
                  <a:lnTo>
                    <a:pt x="4220887" y="0"/>
                  </a:lnTo>
                  <a:lnTo>
                    <a:pt x="4220887" y="2115742"/>
                  </a:lnTo>
                  <a:lnTo>
                    <a:pt x="0" y="2115742"/>
                  </a:lnTo>
                  <a:close/>
                </a:path>
              </a:pathLst>
            </a:custGeom>
            <a:solidFill>
              <a:srgbClr val="EFEEE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20887" cy="2153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5400000">
            <a:off x="13833159" y="4118825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>
            <a:off x="11978448" y="48817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-2963613" y="5960567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108902" y="9591221"/>
            <a:ext cx="7423782" cy="175471"/>
          </a:xfrm>
          <a:custGeom>
            <a:avLst/>
            <a:gdLst/>
            <a:ahLst/>
            <a:cxnLst/>
            <a:rect l="l" t="t" r="r" b="b"/>
            <a:pathLst>
              <a:path w="7423782" h="175471">
                <a:moveTo>
                  <a:pt x="0" y="0"/>
                </a:moveTo>
                <a:lnTo>
                  <a:pt x="7423782" y="0"/>
                </a:lnTo>
                <a:lnTo>
                  <a:pt x="7423782" y="175471"/>
                </a:lnTo>
                <a:lnTo>
                  <a:pt x="0" y="175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519928" y="1509832"/>
            <a:ext cx="9832863" cy="1672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78"/>
              </a:lnSpc>
            </a:pPr>
            <a:r>
              <a:rPr lang="en-US" sz="11100" b="1">
                <a:solidFill>
                  <a:srgbClr val="1E1E1E"/>
                </a:solidFill>
                <a:latin typeface="Kollektif Bold"/>
                <a:ea typeface="Kollektif Bold"/>
                <a:cs typeface="Kollektif Bold"/>
                <a:sym typeface="Kollektif Bold"/>
              </a:rPr>
              <a:t>CONCLUSIÓN</a:t>
            </a:r>
          </a:p>
        </p:txBody>
      </p:sp>
      <p:sp>
        <p:nvSpPr>
          <p:cNvPr id="10" name="Freeform 10"/>
          <p:cNvSpPr/>
          <p:nvPr/>
        </p:nvSpPr>
        <p:spPr>
          <a:xfrm>
            <a:off x="3679209" y="3463639"/>
            <a:ext cx="1347074" cy="1347074"/>
          </a:xfrm>
          <a:custGeom>
            <a:avLst/>
            <a:gdLst/>
            <a:ahLst/>
            <a:cxnLst/>
            <a:rect l="l" t="t" r="r" b="b"/>
            <a:pathLst>
              <a:path w="1347074" h="1347074">
                <a:moveTo>
                  <a:pt x="0" y="0"/>
                </a:moveTo>
                <a:lnTo>
                  <a:pt x="1347074" y="0"/>
                </a:lnTo>
                <a:lnTo>
                  <a:pt x="1347074" y="1347074"/>
                </a:lnTo>
                <a:lnTo>
                  <a:pt x="0" y="13470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8507360" y="3573671"/>
            <a:ext cx="8051665" cy="21785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lang="en-US" sz="2011" spc="44">
                <a:solidFill>
                  <a:srgbClr val="000000"/>
                </a:solidFill>
                <a:latin typeface="Kollektif"/>
                <a:ea typeface="Kollektif"/>
                <a:cs typeface="Kollektif"/>
                <a:sym typeface="Kollektif"/>
              </a:rPr>
              <a:t>Aplicando metodologías ágiles y una estricta gestión de riesgos, es posible construir un sistema robusto, escalable y tolerante a fallos dentro de los plazos establecidos</a:t>
            </a:r>
          </a:p>
          <a:p>
            <a:pPr algn="l">
              <a:lnSpc>
                <a:spcPts val="2816"/>
              </a:lnSpc>
            </a:pPr>
            <a:endParaRPr lang="en-US" sz="2011" spc="44">
              <a:solidFill>
                <a:srgbClr val="000000"/>
              </a:solidFill>
              <a:latin typeface="Kollektif"/>
              <a:ea typeface="Kollektif"/>
              <a:cs typeface="Kollektif"/>
              <a:sym typeface="Kollektif"/>
            </a:endParaRPr>
          </a:p>
          <a:p>
            <a:pPr algn="l">
              <a:lnSpc>
                <a:spcPts val="2816"/>
              </a:lnSpc>
            </a:pPr>
            <a:endParaRPr lang="en-US" sz="2011" spc="44">
              <a:solidFill>
                <a:srgbClr val="000000"/>
              </a:solidFill>
              <a:latin typeface="Kollektif"/>
              <a:ea typeface="Kollektif"/>
              <a:cs typeface="Kollektif"/>
              <a:sym typeface="Kollektif"/>
            </a:endParaRPr>
          </a:p>
          <a:p>
            <a:pPr algn="l">
              <a:lnSpc>
                <a:spcPts val="2816"/>
              </a:lnSpc>
            </a:pPr>
            <a:endParaRPr lang="en-US" sz="2011" spc="44">
              <a:solidFill>
                <a:srgbClr val="000000"/>
              </a:solidFill>
              <a:latin typeface="Kollektif"/>
              <a:ea typeface="Kollektif"/>
              <a:cs typeface="Kollektif"/>
              <a:sym typeface="Kollektif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8587262" y="6708463"/>
            <a:ext cx="7667740" cy="2069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lang="en-US" sz="1916" spc="42">
                <a:solidFill>
                  <a:srgbClr val="000000"/>
                </a:solidFill>
                <a:latin typeface="Kollektif"/>
                <a:ea typeface="Kollektif"/>
                <a:cs typeface="Kollektif"/>
                <a:sym typeface="Kollektif"/>
              </a:rPr>
              <a:t>Nuestra infraestructura permite escalar el modelo hacia integraciones con dispositivos IoT, como smartwatches, y facilita la futura conexión mediante APIs oficiales con sistemas de seguridad municipal, proyectando esta solución académica como un producto con alto potencial de mercado</a:t>
            </a:r>
          </a:p>
          <a:p>
            <a:pPr algn="l">
              <a:lnSpc>
                <a:spcPts val="2682"/>
              </a:lnSpc>
            </a:pPr>
            <a:endParaRPr lang="en-US" sz="1916" spc="42">
              <a:solidFill>
                <a:srgbClr val="000000"/>
              </a:solidFill>
              <a:latin typeface="Kollektif"/>
              <a:ea typeface="Kollektif"/>
              <a:cs typeface="Kollektif"/>
              <a:sym typeface="Kollektif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3679209" y="6784663"/>
            <a:ext cx="1441496" cy="1498719"/>
          </a:xfrm>
          <a:custGeom>
            <a:avLst/>
            <a:gdLst/>
            <a:ahLst/>
            <a:cxnLst/>
            <a:rect l="l" t="t" r="r" b="b"/>
            <a:pathLst>
              <a:path w="1441496" h="1498719">
                <a:moveTo>
                  <a:pt x="0" y="0"/>
                </a:moveTo>
                <a:lnTo>
                  <a:pt x="1441495" y="0"/>
                </a:lnTo>
                <a:lnTo>
                  <a:pt x="1441495" y="1498720"/>
                </a:lnTo>
                <a:lnTo>
                  <a:pt x="0" y="149872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954502" y="5227702"/>
            <a:ext cx="8370564" cy="1156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8"/>
              </a:lnSpc>
            </a:pPr>
            <a:r>
              <a:rPr lang="en-US" sz="2091" spc="46">
                <a:solidFill>
                  <a:srgbClr val="000000"/>
                </a:solidFill>
                <a:latin typeface="Kollektif"/>
                <a:ea typeface="Kollektif"/>
                <a:cs typeface="Kollektif"/>
                <a:sym typeface="Kollektif"/>
              </a:rPr>
              <a:t>Se demostrará que la tecnología bien aplicada tiene el poder de reducir los tiempos de reacción y, potencialmente, salvar vidas</a:t>
            </a:r>
          </a:p>
          <a:p>
            <a:pPr algn="l">
              <a:lnSpc>
                <a:spcPts val="2928"/>
              </a:lnSpc>
            </a:pPr>
            <a:endParaRPr lang="en-US" sz="2091" spc="46">
              <a:solidFill>
                <a:srgbClr val="000000"/>
              </a:solidFill>
              <a:latin typeface="Kollektif"/>
              <a:ea typeface="Kollektif"/>
              <a:cs typeface="Kollektif"/>
              <a:sym typeface="Kollektif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14366546" y="5143500"/>
            <a:ext cx="1048632" cy="1361124"/>
          </a:xfrm>
          <a:custGeom>
            <a:avLst/>
            <a:gdLst/>
            <a:ahLst/>
            <a:cxnLst/>
            <a:rect l="l" t="t" r="r" b="b"/>
            <a:pathLst>
              <a:path w="1048632" h="1361124">
                <a:moveTo>
                  <a:pt x="0" y="0"/>
                </a:moveTo>
                <a:lnTo>
                  <a:pt x="1048632" y="0"/>
                </a:lnTo>
                <a:lnTo>
                  <a:pt x="1048632" y="1361124"/>
                </a:lnTo>
                <a:lnTo>
                  <a:pt x="0" y="13611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593628" y="421552"/>
            <a:ext cx="2755422" cy="678092"/>
          </a:xfrm>
          <a:custGeom>
            <a:avLst/>
            <a:gdLst/>
            <a:ahLst/>
            <a:cxnLst/>
            <a:rect l="l" t="t" r="r" b="b"/>
            <a:pathLst>
              <a:path w="2755422" h="678092">
                <a:moveTo>
                  <a:pt x="0" y="0"/>
                </a:moveTo>
                <a:lnTo>
                  <a:pt x="2755422" y="0"/>
                </a:lnTo>
                <a:lnTo>
                  <a:pt x="2755422" y="678092"/>
                </a:lnTo>
                <a:lnTo>
                  <a:pt x="0" y="6780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800</Words>
  <Application>Microsoft Office PowerPoint</Application>
  <PresentationFormat>Personalizado</PresentationFormat>
  <Paragraphs>115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7" baseType="lpstr">
      <vt:lpstr>Kollektif</vt:lpstr>
      <vt:lpstr>Open Sans</vt:lpstr>
      <vt:lpstr>League Spartan</vt:lpstr>
      <vt:lpstr>Open Sans Bold</vt:lpstr>
      <vt:lpstr>Now</vt:lpstr>
      <vt:lpstr>Arial</vt:lpstr>
      <vt:lpstr>Now Bold</vt:lpstr>
      <vt:lpstr>Raleway Bold</vt:lpstr>
      <vt:lpstr>Kollektif Bold</vt:lpstr>
      <vt:lpstr>Calibri</vt:lpstr>
      <vt:lpstr>Raleway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 Capstone 1</dc:title>
  <cp:lastModifiedBy>AV-Alumno</cp:lastModifiedBy>
  <cp:revision>2</cp:revision>
  <dcterms:created xsi:type="dcterms:W3CDTF">2006-08-16T00:00:00Z</dcterms:created>
  <dcterms:modified xsi:type="dcterms:W3CDTF">2026-08-31T19:51:21Z</dcterms:modified>
  <dc:identifier>DAHTnzrDP4Q</dc:identifier>
</cp:coreProperties>
</file>